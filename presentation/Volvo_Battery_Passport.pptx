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f391f3-e64a-10d6-8b55-7f6a17fe85a2}">
          <p14:sldIdLst>
            <p14:sldId id="256"/>
            <p14:sldId id="257"/>
            <p14:sldId id="258"/>
            <p14:sldId id="259"/>
          </p14:sldIdLst>
        </p14:section>
        <p14:section name="System design" id="{2f27ee9a-8e86-654e-e3f1-3c5888344219}">
          <p14:sldIdLst>
            <p14:sldId id="260"/>
            <p14:sldId id="261"/>
            <p14:sldId id="262"/>
            <p14:sldId id="263"/>
            <p14:sldId id="264"/>
          </p14:sldIdLst>
        </p14:section>
        <p14:section name="Implementation" id="{0f746339-f257-31bb-e705-6cc8620bf90d}">
          <p14:sldIdLst>
            <p14:sldId id="265"/>
            <p14:sldId id="266"/>
            <p14:sldId id="267"/>
          </p14:sldIdLst>
        </p14:section>
        <p14:section name="Evaluation" id="{c056b984-dfac-bee0-7bcb-cbd6e9b192a4}">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called the Volvo Battery Passport. It is an educational prototype that shows how a blockchain can make the supply chain of an electric-vehicle battery more transparent.
In one sentence: a battery batch is registered on a blockchain and then moves step by step from mining to recycling. Each step is recorded by an authorised participant who signs the transaction with MetaMask. Anyone can then read a public battery passport, for example by opening a QR-code link.
The numbers on the slide summarise the build: one Solidity smart contract, five roles enforced on-chain, six lifecycle stages, and ten automated smart-contract tests that all pass.
Important framing for the viva: the idea is inspired by the Volvo Cars and Circulor battery-traceability work, but this is my own educational implementation. It is not a Volvo or Circulor product and is not connected to their systems. Everything runs on a local Hardhat blockchain, chain ID 31337, on my laptop, and all battery data is fictional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problem matter? An EV battery is not made by one company. Raw materials such as cobalt and lithium are mined, refined, turned into cells and packs, installed in a car, used for years and finally recycled. The right side of the slide shows that chain.
Problem one: each organisation keeps its own records in its own system, so there is no single place to follow a battery batch end to end.
Problem two: important claims such as where the material came from, how much recycled content it has and its carbon footprint are reported by different parties and are hard to cross-check.
Problem three: regulation. The EU Battery Regulation 2023/1542 requires a digital battery passport for EV batteries from February 2027, so manufacturers need a reliable way to collect this lifecycle data.
That gives the motivation for the project: a shared, tamper-evident record where only authorised participants can write, and where anyone can read the public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objectives I set and achieved. First, record a battery batch’s lifecycle on the blockchain in a fixed order. Second, make sure only the correct role can perform each update. Third, let anyone see a public passport without needing a wallet. Fourth, connect each passport to a QR code. Fifth, make every update a real transaction signed by the participant’s own MetaMask account. Sixth, prove the rules work with automated tests.
On the right is the scope. In scope, and implemented: a single Solidity contract, a local Hardhat blockchain with chain ID 31337, a React and Vite dashboard, five roles, six lifecycle stages and fictional demo data.
Out of scope: I did not deploy to a public blockchain and there is no integration with Volvo or Circulor. The system also does not check whether submitted data is true, does not encrypt data, and does not use IoT sensors. Stating this clearly avoids over-claiming what a prototype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use a blockchain at all instead of a normal database? There are four properties that fit supply-chain traceability.
One, a shared ledger: all participants read the same contract state, so there is no need to reconcile separate databases. Two, append-only history: data is added through transactions, and my contract has no function to edit or delete a stage once it is recorded. Three, every transaction is digitally signed with the sender’s private key, so each record is linked to an account address. Four, rules in code: the smart contract decides who may write and in which order, and any invalid call is rejected, which we call a revert.
The bottom half is the honest part. Blockchain gives an audit trail, a common source of truth and automatic rule enforcement. But it does not prove that the data someone typed in is true; if a supplier enters a false mine location, the blockchain stores the false value permanently. It also does not provide privacy, and an address is not a real-world identity. These limits come back on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architecture. On the left is the user, using a browser that has the MetaMask extension. The user interacts with one React dashboard, built with TypeScript and Vite.
There are two separate paths to the blockchain.
The blue write path is used for any change, such as registering a battery or recording a stage. The dashboard uses viem’s wallet client to build the contract call. It first simulates the call to catch errors early, then hands the transaction to MetaMask. MetaMask shows it to the user, the user approves, and MetaMask signs it with the account’s private key and sends it to the Hardhat node. The contract then runs and checks the sender’s role.
The green read path is used for the public passport. viem’s public client talks to the Hardhat node directly over HTTP JSON-RPC at 127.0.0.1 port 8545. It uses eth_call to read data, and also fetches transaction receipts and events. No wallet and no signature are needed, which is why a customer can view a passport without MetaMask.
On the right is the Hardhat local node with chain ID 31337, where BatteryPassport.sol is deployed. Hardhat automines, so every transaction gets its own block straight away.
The bottom strip shows the developer steps before a demo: compile the contract to get the ABI, deploy it to get the address, then run export-frontend.ts, which writes the ABI, address and chain ID into frontend/src/contract.ts for the dashboard to import.
Note on ordering: in the code, the React app calls viem, and viem hands the transaction to MetaMask for signing, so the diagram shows viem before MetaMask.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every technology I used and what it does.
Solidity 0.8.34 is the language of the smart contract. Hardhat 3.20 is the development environment: it compiles the contract, runs the local blockchain node with chain ID 31337, runs the tests and runs my TypeScript scripts for deploying, seeding demo data and exporting the ABI.
forge-std is a Solidity testing library. Hardhat runs my Solidity tests with it, and I use two of its tools: vm.prank, which makes the next call come from a chosen address so I can test each role, and vm.expectRevert, which checks the exact error message.
On the frontend, React 19 with TypeScript builds the dashboard and Vite serves it at localhost:5173. viem is the library that talks to the blockchain: it turns function calls into encoded transactions using the ABI, reads data over RPC, sends writes through MetaMask and waits for receipts. MetaMask stores the private key and signs. qrcode.react draws the QR code in the browser.
Everything is free and local. The ETH in the Hardhat accounts is test ETH with no real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of the smart contract, BatteryPassport.sol. Everything is in one contract.
On the left is the data model. There are two enums. Role lists the participants: None, which is the default, then Admin, Supplier, Manufacturer, Regulator and Customer. Stage lists the lifecycle states from Unregistered to Recycled. The Battery struct is the full record of one batch: material origin, refining, manufacturing, distribution and recycling data, plus who registered it, when, and its current stage. Storage uses a mapping from address to role, a mapping from batch ID to Battery, and an array of all batch IDs.
The table lists every public function. The Admin manages roles. The Supplier registers a batch and records refining, end-of-life and recycling. The Manufacturer records manufacturing and distribution. Each write moves the batch forward by exactly one stage.
For reading: getPublicPassport can be called by anyone and returns 11 public fields. getFullPassport and getAllBatchIds are limited to Admin and Regulator. getRole lets the dashboard check the connected account’s role.
Finally, the contract emits four events: RoleGranted, RoleRevoked, BatteryRegistered and StageAdvanced. These events form the on-chain audit trail of who did what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shows exactly what each role can do. Each tick is enforced by the smart contract, not just by the user interface.
Only the Admin can grant and revoke roles. The Supplier registers a battery and records refining, end of life and recycling. The Manufacturer records manufacturing and distribution. The Regulator cannot write anything but can read the full passport and the list of all batch IDs, as can the Admin. Everyone can view the public passport, even someone with no role and no wallet.
Where do roles come from? The account that deploys the contract becomes Admin in the constructor, and the Admin grants other roles with grantRole. The dashboard never gives anyone a role. It only reads the role from the contract with getRole and shows the matching forms.
How is it enforced? Each write function has a modifier, such as onlySupplier, that checks msg.sender, the address that signed the transaction. If the role is wrong, the transaction reverts with a message like ‘Access denied: Supplier role required’.
One important point: access control is not confidentiality. These checks decide who may call a function, but they do not encrypt the data. Anyone running a node can read the contract’s storage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battery batch follows a strict state machine with six stages: Registered, Refined, Manufactured, Distributed, End of Life and Recycled. In the contract, an unknown batch has stage 0, Unregistered.
The left side shows each transition: which function moves the batch forward, which role may call it, and what data it stores. For example, registerBattery takes the batch from 0 to 1 and can only be called by a Supplier; the batch ID must be new. recordManufacturing moves it from 2 to 3, can only be called by the Manufacturer, and stores the manufacturing details, carbon footprint, vehicle VIN and quality result.
The right side shows the checks the contract performs on every lifecycle write, in order. First, the role, using a modifier on msg.sender. Second, that the batch exists. Third, that it is at exactly the expected stage, so you cannot skip a stage or go backwards. Fourth, simple input validation, such as non-empty text, recycled content between 0 and 100, and a carbon footprint greater than zero. Only then is the data stored and a StageAdvanced event emitted.
If any check fails, the whole transaction reverts and nothing is stored. The slide shows one real error message from the contract. Because each stage function can only run once per batch, recorded stage data cannot be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happens in the dashboard when a participant records something.
Step one, connect: the app asks MetaMask for the account and checks that MetaMask is on chain ID 31337. If not, it offers a button to switch to or add the Hardhat Local network.
Step two, read the role: the app calls getRole for that address over the local RPC. It listens for MetaMask’s accountsChanged and chainChanged events, so switching accounts re-reads the role.
Step three: only the forms for that on-chain role are shown. There is no role selector in the UI.
Step four, simulate: before opening MetaMask, viem runs the call as a simulation from that account. If the contract would revert, for example because of the wrong role or wrong stage, the user sees the contract’s exact reason immediately.
Steps five to seven: MetaMask asks the user to approve and signs, the app waits for the transaction receipt and checks its status is success, then re-reads the passport from the blockchain. The UI does not fake success in local state.
On the right are three operations people often confuse. Signing happens in the wallet: it proves who sent the transaction, but nothing is on-chain yet. Confirmation is when the node includes the transaction in a block; on Hardhat each transaction is mined immediately, and the receipt shows whether it succeeded. Reading uses eth_call: it is free, instant, needs no signature and creates no block, and it is how the public passport is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customer-facing part: the public battery passport and its QR code.
The left side is a placeholder for a screenshot of the working dashboard showing DEMO-BATCH-0001. Please insert your own screenshot here before presenting.
How the QR link works: the dashboard uses qrcode.react to draw a QR code for a URL of the form localhost:5173 slash question mark passport equals the batch ID, with the ID URL-encoded. When the link is opened, the app reads the passport parameter from the URL and calls getPublicPassport on the contract through the local RPC. This is a read, so no wallet and no signature are needed. The app then shows the lifecycle tracker and the public fields. If the batch ID does not exist, it shows a clear ‘not registered’ message, using the contract’s own error.
At the bottom is the difference between the public and full passport. The public view is open to anyone. The full view is limited to Admin and Regulator and adds the supplier’s address, the registration time and the refining details. Again, this is a function-level restriction, not encryption.
Limitation: because everything runs on localhost, the QR link only works on the same computer while the app and the Hardhat node are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results from my local demonstration.
First, testing. I wrote ten automated smart-contract tests in Solidity using the forge-std library, run with the command npx hardhat test solidity. All ten pass. They check that the deployer becomes Admin, that only the Admin can grant roles, that only a Supplier can register, that refining before registration and manufacturing before refining are rejected, that duplicate batch IDs are rejected, that a full lifecycle produces the correct public passport, and that a Regulator can read the full passport while a Customer cannot. Each failure test checks the exact revert message.
Second, the demo batches. DEMO-BATCH-0001 went through all six lifecycle stages and reached Recycled. DEMO-BATCH-0002 was registered on-chain, with the registration confirmed in block 12, and was then advanced to Refined, so it shows a batch part-way through its lifecycle.
Third, the dashboard correctly showed the batch information, the lifecycle state, the material origin, the recycled content and the QR code.
To be clear: these are functional results from a local Hardhat network, not a production deployment and not performance benchmarks. The batch data is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prototype is complete, so this slide separates limitations, security considerations and future work.
Limitations: the system runs only on a local Hardhat network, and its state is lost when the node restarts. The blockchain does not prove that submitted data is true; it only proves who submitted it and that it was not changed afterwards. There is no confidentiality, because anyone with node access can read the data. The QR link only works on the same computer. And because records are immutable, a mistake cannot be corrected.
Security considerations: write functions are protected properly, because they check msg.sender, which is proven by the signature. But the full-passport restriction is a view function, and in a read call the ‘from’ address can be set by anyone, so it is not a privacy control. There is a single Admin key; if it is lost, or the Admin revokes their own role, nobody can manage roles any more. And the Hardhat test private keys are public, so they must never be used with real funds.
Future enhancements, clearly not implemented yet: a permissioned network such as Hyperledger Fabric or a private EVM chain; keeping confidential data off-chain and storing only hashes on-chain; supplier audits, certificates and IoT data to improve data quality; multi-signature Admin control with role expiry; and extra passport data such as battery health, repair history and an event-history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complete, working prototype. It has a Solidity smart contract on a local Hardhat blockchain, a React dashboard, MetaMask transaction signing and a public passport linked by a QR code.
The smart contract enforces who may record each stage and in which order, and all ten automated tests pass. In the demo, DEMO-BATCH-0001 was traced all the way from registration to recycling, and DEMO-BATCH-0002 shows a batch part-way through its lifecycle.
The main lesson is that blockchain is good at making records shared and tamper-evident and at enforcing rules automatically. But it cannot guarantee that the data entered is accurate, and on its own it does not make data confidential. A real system would combine it with audits, certificates, off-chain storage and a permissioned network.
The references on the right are the EU Battery Regulation that motivates battery passports and the official documentation of the tools I used.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32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chemeClr val="tx1"/>
          </a:solidFill>
          <a:ln/>
        </p:spPr>
      </p:sp>
      <p:sp>
        <p:nvSpPr>
          <p:cNvPr id="3" name="Text 1"/>
          <p:cNvSpPr/>
          <p:nvPr>
            <p:ph idx="101" type="title" hasCustomPrompt="1"/>
          </p:nvPr>
        </p:nvSpPr>
        <p:spPr>
          <a:xfrm>
            <a:off x="548640" y="1097280"/>
            <a:ext cx="11091672"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548640" y="2057400"/>
            <a:ext cx="11091672" cy="548640"/>
          </a:xfrm>
          <a:prstGeom prst="rect">
            <a:avLst/>
          </a:prstGeom>
          <a:noFill/>
          <a:ln/>
        </p:spPr>
        <p:txBody>
          <a:bodyPr wrap="square" rtlCol="0"/>
          <a:lstStyle>
            <a:lvl1pPr indent="0" marL="0">
              <a:buNone/>
              <a:defRPr lang="en-US" sz="2400" i="1"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chemeClr val="accent6"/>
                </a:solidFill>
              </a:rPr>
              <a:t>Volvo Battery Passport  ·  Educational prototype  ·  Local Hardhat network (Chain ID 31337)</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F232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chemeClr val="tx1"/>
          </a:solidFill>
          <a:ln/>
        </p:spPr>
      </p:sp>
      <p:sp>
        <p:nvSpPr>
          <p:cNvPr id="3" name="Text 1"/>
          <p:cNvSpPr/>
          <p:nvPr>
            <p:ph idx="101" type="title" hasCustomPrompt="1"/>
          </p:nvPr>
        </p:nvSpPr>
        <p:spPr>
          <a:xfrm>
            <a:off x="548640" y="365760"/>
            <a:ext cx="1109167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chemeClr val="accent2"/>
                </a:solidFill>
              </a:rPr>
              <a:t>Volvo Battery Passport  ·  Educational prototype  ·  Local Hardhat network (Chain ID 31337)</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0D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685800"/>
            <a:ext cx="11091672" cy="320040"/>
          </a:xfrm>
          <a:prstGeom prst="rect">
            <a:avLst/>
          </a:prstGeom>
          <a:noFill/>
          <a:ln/>
        </p:spPr>
        <p:txBody>
          <a:bodyPr wrap="square" lIns="0" tIns="0" rIns="0" bIns="0" rtlCol="0" anchor="t"/>
          <a:lstStyle/>
          <a:p>
            <a:pPr algn="l" indent="0" marL="0">
              <a:buNone/>
            </a:pPr>
            <a:r>
              <a:rPr lang="en-US" sz="1400" b="1" dirty="0">
                <a:solidFill>
                  <a:schemeClr val="accent2"/>
                </a:solidFill>
              </a:rPr>
              <a:t>BLOCKCHAIN PROJECT  ·  EDUCATIONAL PROTOTYPE</a:t>
            </a:r>
            <a:endParaRPr lang="en-US" sz="1400" dirty="0"/>
          </a:p>
        </p:txBody>
      </p:sp>
      <p:sp>
        <p:nvSpPr>
          <p:cNvPr id="3" name="Text 1"/>
          <p:cNvSpPr/>
          <p:nvPr>
            <p:ph idx="101" type="title" hasCustomPrompt="1"/>
          </p:nvPr>
        </p:nvSpPr>
        <p:spPr>
          <a:xfrm>
            <a:off x="548640" y="1097280"/>
            <a:ext cx="11091672" cy="914400"/>
          </a:xfrm>
          <a:prstGeom prst="rect">
            <a:avLst/>
          </a:prstGeom>
          <a:noFill/>
          <a:ln/>
        </p:spPr>
        <p:txBody>
          <a:bodyPr wrap="square" lIns="0" tIns="0" rIns="0" bIns="0" rtlCol="0" anchor="b"/>
          <a:lstStyle/>
          <a:p>
            <a:pPr algn="l" indent="0" marL="0">
              <a:buNone/>
            </a:pPr>
            <a:r>
              <a:rPr lang="en-US" sz="4400" b="1" dirty="0">
                <a:solidFill>
                  <a:schemeClr val="bg1"/>
                </a:solidFill>
              </a:rPr>
              <a:t>Volvo Battery Passport</a:t>
            </a:r>
            <a:endParaRPr lang="en-US" sz="4400" dirty="0"/>
          </a:p>
        </p:txBody>
      </p:sp>
      <p:sp>
        <p:nvSpPr>
          <p:cNvPr id="4" name="Text 1"/>
          <p:cNvSpPr/>
          <p:nvPr>
            <p:ph idx="102" type="body" hasCustomPrompt="1"/>
          </p:nvPr>
        </p:nvSpPr>
        <p:spPr>
          <a:xfrm>
            <a:off x="548640" y="2057400"/>
            <a:ext cx="11091672" cy="548640"/>
          </a:xfrm>
          <a:prstGeom prst="rect">
            <a:avLst/>
          </a:prstGeom>
          <a:noFill/>
          <a:ln/>
        </p:spPr>
        <p:txBody>
          <a:bodyPr wrap="square" lIns="0" tIns="0" rIns="0" bIns="0" rtlCol="0" anchor="t"/>
          <a:lstStyle/>
          <a:p>
            <a:pPr indent="0" marL="0">
              <a:buNone/>
            </a:pPr>
            <a:r>
              <a:rPr lang="en-US" sz="2400" i="1" dirty="0">
                <a:solidFill>
                  <a:schemeClr val="accent2"/>
                </a:solidFill>
              </a:rPr>
              <a:t>Blockchain-Based Supply Chain Transparency</a:t>
            </a:r>
            <a:endParaRPr lang="en-US" sz="2400" dirty="0"/>
          </a:p>
        </p:txBody>
      </p:sp>
      <p:sp>
        <p:nvSpPr>
          <p:cNvPr id="5" name="overview"/>
          <p:cNvSpPr txBox="1"/>
          <p:nvPr/>
        </p:nvSpPr>
        <p:spPr>
          <a:xfrm>
            <a:off x="548640" y="2788920"/>
            <a:ext cx="9692640" cy="960120"/>
          </a:xfrm>
          <a:prstGeom prst="rect">
            <a:avLst/>
          </a:prstGeom>
          <a:noFill/>
          <a:ln/>
        </p:spPr>
        <p:txBody>
          <a:bodyPr wrap="square" lIns="0" tIns="0" rIns="0" bIns="0" rtlCol="0" anchor="t"/>
          <a:lstStyle/>
          <a:p>
            <a:pPr algn="l" indent="0" marL="0">
              <a:buNone/>
            </a:pPr>
            <a:r>
              <a:rPr lang="en-US" sz="1700" dirty="0">
                <a:solidFill>
                  <a:schemeClr val="bg2"/>
                </a:solidFill>
              </a:rPr>
              <a:t>A single-dashboard prototype that records an EV battery batch’s journey, from mining to recycling, in a Solidity smart contract on a local Hardhat blockchain, with role-based permissions, MetaMask-signed updates and a QR-linked public passport.</a:t>
            </a:r>
            <a:endParaRPr lang="en-US" sz="1700" dirty="0"/>
          </a:p>
        </p:txBody>
      </p:sp>
      <p:sp>
        <p:nvSpPr>
          <p:cNvPr id="6" name="stat-0-bg"/>
          <p:cNvSpPr/>
          <p:nvPr/>
        </p:nvSpPr>
        <p:spPr>
          <a:xfrm>
            <a:off x="548640" y="4069080"/>
            <a:ext cx="2560320" cy="1417320"/>
          </a:xfrm>
          <a:prstGeom prst="roundRect">
            <a:avLst>
              <a:gd name="adj" fmla="val 5161"/>
            </a:avLst>
          </a:prstGeom>
          <a:solidFill>
            <a:schemeClr val="tx2"/>
          </a:solidFill>
          <a:ln/>
        </p:spPr>
      </p:sp>
      <p:sp>
        <p:nvSpPr>
          <p:cNvPr id="7" name="stat-0-num"/>
          <p:cNvSpPr txBox="1"/>
          <p:nvPr/>
        </p:nvSpPr>
        <p:spPr>
          <a:xfrm>
            <a:off x="777240" y="4160520"/>
            <a:ext cx="2103120" cy="685800"/>
          </a:xfrm>
          <a:prstGeom prst="rect">
            <a:avLst/>
          </a:prstGeom>
          <a:noFill/>
          <a:ln/>
        </p:spPr>
        <p:txBody>
          <a:bodyPr wrap="square" lIns="0" tIns="0" rIns="0" bIns="0" rtlCol="0" anchor="ctr"/>
          <a:lstStyle/>
          <a:p>
            <a:pPr algn="l" indent="0" marL="0">
              <a:buNone/>
            </a:pPr>
            <a:r>
              <a:rPr lang="en-US" sz="4000" b="1" dirty="0">
                <a:solidFill>
                  <a:schemeClr val="bg1"/>
                </a:solidFill>
              </a:rPr>
              <a:t>1</a:t>
            </a:r>
            <a:endParaRPr lang="en-US" sz="4000" dirty="0"/>
          </a:p>
        </p:txBody>
      </p:sp>
      <p:sp>
        <p:nvSpPr>
          <p:cNvPr id="8" name="stat-0-label"/>
          <p:cNvSpPr txBox="1"/>
          <p:nvPr/>
        </p:nvSpPr>
        <p:spPr>
          <a:xfrm>
            <a:off x="777240" y="4846320"/>
            <a:ext cx="2194560" cy="548640"/>
          </a:xfrm>
          <a:prstGeom prst="rect">
            <a:avLst/>
          </a:prstGeom>
          <a:noFill/>
          <a:ln/>
        </p:spPr>
        <p:txBody>
          <a:bodyPr wrap="square" lIns="0" tIns="0" rIns="0" bIns="0" rtlCol="0" anchor="t"/>
          <a:lstStyle/>
          <a:p>
            <a:pPr algn="l" indent="0" marL="0">
              <a:buNone/>
            </a:pPr>
            <a:r>
              <a:rPr lang="en-US" sz="1400" dirty="0">
                <a:solidFill>
                  <a:schemeClr val="accent2"/>
                </a:solidFill>
              </a:rPr>
              <a:t>smart contract</a:t>
            </a:r>
            <a:endParaRPr lang="en-US" sz="1400" dirty="0"/>
          </a:p>
          <a:p>
            <a:pPr algn="l" indent="0" marL="0">
              <a:buNone/>
            </a:pPr>
            <a:r>
              <a:rPr lang="en-US" sz="1400" dirty="0">
                <a:solidFill>
                  <a:schemeClr val="accent2"/>
                </a:solidFill>
              </a:rPr>
              <a:t>BatteryPassport.sol</a:t>
            </a:r>
            <a:endParaRPr lang="en-US" sz="1400" dirty="0"/>
          </a:p>
        </p:txBody>
      </p:sp>
      <p:sp>
        <p:nvSpPr>
          <p:cNvPr id="9" name="stat-1-bg"/>
          <p:cNvSpPr/>
          <p:nvPr/>
        </p:nvSpPr>
        <p:spPr>
          <a:xfrm>
            <a:off x="3383280" y="4069080"/>
            <a:ext cx="2560320" cy="1417320"/>
          </a:xfrm>
          <a:prstGeom prst="roundRect">
            <a:avLst>
              <a:gd name="adj" fmla="val 5161"/>
            </a:avLst>
          </a:prstGeom>
          <a:solidFill>
            <a:schemeClr val="tx2"/>
          </a:solidFill>
          <a:ln/>
        </p:spPr>
      </p:sp>
      <p:sp>
        <p:nvSpPr>
          <p:cNvPr id="10" name="stat-1-num"/>
          <p:cNvSpPr txBox="1"/>
          <p:nvPr/>
        </p:nvSpPr>
        <p:spPr>
          <a:xfrm>
            <a:off x="3611880" y="4160520"/>
            <a:ext cx="2103120" cy="685800"/>
          </a:xfrm>
          <a:prstGeom prst="rect">
            <a:avLst/>
          </a:prstGeom>
          <a:noFill/>
          <a:ln/>
        </p:spPr>
        <p:txBody>
          <a:bodyPr wrap="square" lIns="0" tIns="0" rIns="0" bIns="0" rtlCol="0" anchor="ctr"/>
          <a:lstStyle/>
          <a:p>
            <a:pPr algn="l" indent="0" marL="0">
              <a:buNone/>
            </a:pPr>
            <a:r>
              <a:rPr lang="en-US" sz="4000" b="1" dirty="0">
                <a:solidFill>
                  <a:schemeClr val="bg1"/>
                </a:solidFill>
              </a:rPr>
              <a:t>5</a:t>
            </a:r>
            <a:endParaRPr lang="en-US" sz="4000" dirty="0"/>
          </a:p>
        </p:txBody>
      </p:sp>
      <p:sp>
        <p:nvSpPr>
          <p:cNvPr id="11" name="stat-1-label"/>
          <p:cNvSpPr txBox="1"/>
          <p:nvPr/>
        </p:nvSpPr>
        <p:spPr>
          <a:xfrm>
            <a:off x="3611880" y="4846320"/>
            <a:ext cx="2194560" cy="548640"/>
          </a:xfrm>
          <a:prstGeom prst="rect">
            <a:avLst/>
          </a:prstGeom>
          <a:noFill/>
          <a:ln/>
        </p:spPr>
        <p:txBody>
          <a:bodyPr wrap="square" lIns="0" tIns="0" rIns="0" bIns="0" rtlCol="0" anchor="t"/>
          <a:lstStyle/>
          <a:p>
            <a:pPr algn="l" indent="0" marL="0">
              <a:buNone/>
            </a:pPr>
            <a:r>
              <a:rPr lang="en-US" sz="1400" dirty="0">
                <a:solidFill>
                  <a:schemeClr val="accent2"/>
                </a:solidFill>
              </a:rPr>
              <a:t>on-chain roles</a:t>
            </a:r>
            <a:endParaRPr lang="en-US" sz="1400" dirty="0"/>
          </a:p>
        </p:txBody>
      </p:sp>
      <p:sp>
        <p:nvSpPr>
          <p:cNvPr id="12" name="stat-2-bg"/>
          <p:cNvSpPr/>
          <p:nvPr/>
        </p:nvSpPr>
        <p:spPr>
          <a:xfrm>
            <a:off x="6217920" y="4069080"/>
            <a:ext cx="2560320" cy="1417320"/>
          </a:xfrm>
          <a:prstGeom prst="roundRect">
            <a:avLst>
              <a:gd name="adj" fmla="val 5161"/>
            </a:avLst>
          </a:prstGeom>
          <a:solidFill>
            <a:schemeClr val="tx2"/>
          </a:solidFill>
          <a:ln/>
        </p:spPr>
      </p:sp>
      <p:sp>
        <p:nvSpPr>
          <p:cNvPr id="13" name="stat-2-num"/>
          <p:cNvSpPr txBox="1"/>
          <p:nvPr/>
        </p:nvSpPr>
        <p:spPr>
          <a:xfrm>
            <a:off x="6446520" y="4160520"/>
            <a:ext cx="2103120" cy="685800"/>
          </a:xfrm>
          <a:prstGeom prst="rect">
            <a:avLst/>
          </a:prstGeom>
          <a:noFill/>
          <a:ln/>
        </p:spPr>
        <p:txBody>
          <a:bodyPr wrap="square" lIns="0" tIns="0" rIns="0" bIns="0" rtlCol="0" anchor="ctr"/>
          <a:lstStyle/>
          <a:p>
            <a:pPr algn="l" indent="0" marL="0">
              <a:buNone/>
            </a:pPr>
            <a:r>
              <a:rPr lang="en-US" sz="4000" b="1" dirty="0">
                <a:solidFill>
                  <a:schemeClr val="bg1"/>
                </a:solidFill>
              </a:rPr>
              <a:t>6</a:t>
            </a:r>
            <a:endParaRPr lang="en-US" sz="4000" dirty="0"/>
          </a:p>
        </p:txBody>
      </p:sp>
      <p:sp>
        <p:nvSpPr>
          <p:cNvPr id="14" name="stat-2-label"/>
          <p:cNvSpPr txBox="1"/>
          <p:nvPr/>
        </p:nvSpPr>
        <p:spPr>
          <a:xfrm>
            <a:off x="6446520" y="4846320"/>
            <a:ext cx="2194560" cy="548640"/>
          </a:xfrm>
          <a:prstGeom prst="rect">
            <a:avLst/>
          </a:prstGeom>
          <a:noFill/>
          <a:ln/>
        </p:spPr>
        <p:txBody>
          <a:bodyPr wrap="square" lIns="0" tIns="0" rIns="0" bIns="0" rtlCol="0" anchor="t"/>
          <a:lstStyle/>
          <a:p>
            <a:pPr algn="l" indent="0" marL="0">
              <a:buNone/>
            </a:pPr>
            <a:r>
              <a:rPr lang="en-US" sz="1400" dirty="0">
                <a:solidFill>
                  <a:schemeClr val="accent2"/>
                </a:solidFill>
              </a:rPr>
              <a:t>lifecycle stages</a:t>
            </a:r>
            <a:endParaRPr lang="en-US" sz="1400" dirty="0"/>
          </a:p>
        </p:txBody>
      </p:sp>
      <p:sp>
        <p:nvSpPr>
          <p:cNvPr id="15" name="stat-3-bg"/>
          <p:cNvSpPr/>
          <p:nvPr/>
        </p:nvSpPr>
        <p:spPr>
          <a:xfrm>
            <a:off x="9052560" y="4069080"/>
            <a:ext cx="2560320" cy="1417320"/>
          </a:xfrm>
          <a:prstGeom prst="roundRect">
            <a:avLst>
              <a:gd name="adj" fmla="val 5161"/>
            </a:avLst>
          </a:prstGeom>
          <a:solidFill>
            <a:schemeClr val="tx2"/>
          </a:solidFill>
          <a:ln/>
        </p:spPr>
      </p:sp>
      <p:sp>
        <p:nvSpPr>
          <p:cNvPr id="16" name="stat-3-num"/>
          <p:cNvSpPr txBox="1"/>
          <p:nvPr/>
        </p:nvSpPr>
        <p:spPr>
          <a:xfrm>
            <a:off x="9281160" y="4160520"/>
            <a:ext cx="2103120" cy="685800"/>
          </a:xfrm>
          <a:prstGeom prst="rect">
            <a:avLst/>
          </a:prstGeom>
          <a:noFill/>
          <a:ln/>
        </p:spPr>
        <p:txBody>
          <a:bodyPr wrap="square" lIns="0" tIns="0" rIns="0" bIns="0" rtlCol="0" anchor="ctr"/>
          <a:lstStyle/>
          <a:p>
            <a:pPr algn="l" indent="0" marL="0">
              <a:buNone/>
            </a:pPr>
            <a:r>
              <a:rPr lang="en-US" sz="4000" b="1" dirty="0">
                <a:solidFill>
                  <a:schemeClr val="bg1"/>
                </a:solidFill>
              </a:rPr>
              <a:t>10</a:t>
            </a:r>
            <a:endParaRPr lang="en-US" sz="4000" dirty="0"/>
          </a:p>
        </p:txBody>
      </p:sp>
      <p:sp>
        <p:nvSpPr>
          <p:cNvPr id="17" name="stat-3-label"/>
          <p:cNvSpPr txBox="1"/>
          <p:nvPr/>
        </p:nvSpPr>
        <p:spPr>
          <a:xfrm>
            <a:off x="9281160" y="4846320"/>
            <a:ext cx="2194560" cy="548640"/>
          </a:xfrm>
          <a:prstGeom prst="rect">
            <a:avLst/>
          </a:prstGeom>
          <a:noFill/>
          <a:ln/>
        </p:spPr>
        <p:txBody>
          <a:bodyPr wrap="square" lIns="0" tIns="0" rIns="0" bIns="0" rtlCol="0" anchor="t"/>
          <a:lstStyle/>
          <a:p>
            <a:pPr algn="l" indent="0" marL="0">
              <a:buNone/>
            </a:pPr>
            <a:r>
              <a:rPr lang="en-US" sz="1400" dirty="0">
                <a:solidFill>
                  <a:schemeClr val="accent2"/>
                </a:solidFill>
              </a:rPr>
              <a:t>automated tests passing</a:t>
            </a:r>
            <a:endParaRPr lang="en-US" sz="1400" dirty="0"/>
          </a:p>
        </p:txBody>
      </p:sp>
      <p:sp>
        <p:nvSpPr>
          <p:cNvPr id="18" name="disclaimer"/>
          <p:cNvSpPr txBox="1"/>
          <p:nvPr/>
        </p:nvSpPr>
        <p:spPr>
          <a:xfrm>
            <a:off x="548640" y="5897880"/>
            <a:ext cx="11091672" cy="548640"/>
          </a:xfrm>
          <a:prstGeom prst="rect">
            <a:avLst/>
          </a:prstGeom>
          <a:noFill/>
          <a:ln/>
        </p:spPr>
        <p:txBody>
          <a:bodyPr wrap="square" lIns="0" tIns="0" rIns="0" bIns="0" rtlCol="0" anchor="t"/>
          <a:lstStyle/>
          <a:p>
            <a:pPr algn="l" indent="0" marL="0">
              <a:buNone/>
            </a:pPr>
            <a:r>
              <a:rPr lang="en-US" sz="1200" i="1" dirty="0">
                <a:solidFill>
                  <a:schemeClr val="accent2"/>
                </a:solidFill>
              </a:rPr>
              <a:t>Inspired by automotive battery traceability (Volvo Cars–Circulor). Not an official Volvo Cars or Circulor product, not integrated with their systems, and not deployed to a public blockchain. All demo data is fictional.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traceability problem</a:t>
            </a:r>
            <a:endParaRPr lang="en-US" sz="3400" dirty="0"/>
          </a:p>
        </p:txBody>
      </p:sp>
      <p:sp>
        <p:nvSpPr>
          <p:cNvPr id="3" name="problem-0-badge"/>
          <p:cNvSpPr/>
          <p:nvPr/>
        </p:nvSpPr>
        <p:spPr>
          <a:xfrm>
            <a:off x="548640" y="143560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problem-0-title"/>
          <p:cNvSpPr txBox="1"/>
          <p:nvPr/>
        </p:nvSpPr>
        <p:spPr>
          <a:xfrm>
            <a:off x="1188720" y="1417320"/>
            <a:ext cx="4846320" cy="365760"/>
          </a:xfrm>
          <a:prstGeom prst="rect">
            <a:avLst/>
          </a:prstGeom>
          <a:noFill/>
          <a:ln/>
        </p:spPr>
        <p:txBody>
          <a:bodyPr wrap="square" lIns="0" tIns="0" rIns="0" bIns="0" rtlCol="0" anchor="t"/>
          <a:lstStyle/>
          <a:p>
            <a:pPr algn="l" indent="0" marL="0">
              <a:buNone/>
            </a:pPr>
            <a:r>
              <a:rPr lang="en-US" sz="1800" b="1" dirty="0">
                <a:solidFill>
                  <a:schemeClr val="tx1"/>
                </a:solidFill>
              </a:rPr>
              <a:t>Fragmented records</a:t>
            </a:r>
            <a:endParaRPr lang="en-US" sz="1800" dirty="0"/>
          </a:p>
        </p:txBody>
      </p:sp>
      <p:sp>
        <p:nvSpPr>
          <p:cNvPr id="5" name="problem-0-body"/>
          <p:cNvSpPr txBox="1"/>
          <p:nvPr/>
        </p:nvSpPr>
        <p:spPr>
          <a:xfrm>
            <a:off x="1188720" y="1801368"/>
            <a:ext cx="4846320" cy="868680"/>
          </a:xfrm>
          <a:prstGeom prst="rect">
            <a:avLst/>
          </a:prstGeom>
          <a:noFill/>
          <a:ln/>
        </p:spPr>
        <p:txBody>
          <a:bodyPr wrap="square" lIns="0" tIns="0" rIns="0" bIns="0" rtlCol="0" anchor="t"/>
          <a:lstStyle/>
          <a:p>
            <a:pPr algn="l" indent="0" marL="0">
              <a:buNone/>
            </a:pPr>
            <a:r>
              <a:rPr lang="en-US" sz="1500" dirty="0">
                <a:solidFill>
                  <a:schemeClr val="tx2"/>
                </a:solidFill>
              </a:rPr>
              <a:t>Miners, refiners, battery makers, car makers and recyclers each keep separate systems, so nobody sees the full chain of custody.</a:t>
            </a:r>
            <a:endParaRPr lang="en-US" sz="1500" dirty="0"/>
          </a:p>
        </p:txBody>
      </p:sp>
      <p:sp>
        <p:nvSpPr>
          <p:cNvPr id="6" name="problem-1-badge"/>
          <p:cNvSpPr/>
          <p:nvPr/>
        </p:nvSpPr>
        <p:spPr>
          <a:xfrm>
            <a:off x="548640" y="280720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problem-1-title"/>
          <p:cNvSpPr txBox="1"/>
          <p:nvPr/>
        </p:nvSpPr>
        <p:spPr>
          <a:xfrm>
            <a:off x="1188720" y="2788920"/>
            <a:ext cx="4846320" cy="365760"/>
          </a:xfrm>
          <a:prstGeom prst="rect">
            <a:avLst/>
          </a:prstGeom>
          <a:noFill/>
          <a:ln/>
        </p:spPr>
        <p:txBody>
          <a:bodyPr wrap="square" lIns="0" tIns="0" rIns="0" bIns="0" rtlCol="0" anchor="t"/>
          <a:lstStyle/>
          <a:p>
            <a:pPr algn="l" indent="0" marL="0">
              <a:buNone/>
            </a:pPr>
            <a:r>
              <a:rPr lang="en-US" sz="1800" b="1" dirty="0">
                <a:solidFill>
                  <a:schemeClr val="tx1"/>
                </a:solidFill>
              </a:rPr>
              <a:t>Hard-to-verify claims</a:t>
            </a:r>
            <a:endParaRPr lang="en-US" sz="1800" dirty="0"/>
          </a:p>
        </p:txBody>
      </p:sp>
      <p:sp>
        <p:nvSpPr>
          <p:cNvPr id="8" name="problem-1-body"/>
          <p:cNvSpPr txBox="1"/>
          <p:nvPr/>
        </p:nvSpPr>
        <p:spPr>
          <a:xfrm>
            <a:off x="1188720" y="3172968"/>
            <a:ext cx="4846320" cy="868680"/>
          </a:xfrm>
          <a:prstGeom prst="rect">
            <a:avLst/>
          </a:prstGeom>
          <a:noFill/>
          <a:ln/>
        </p:spPr>
        <p:txBody>
          <a:bodyPr wrap="square" lIns="0" tIns="0" rIns="0" bIns="0" rtlCol="0" anchor="t"/>
          <a:lstStyle/>
          <a:p>
            <a:pPr algn="l" indent="0" marL="0">
              <a:buNone/>
            </a:pPr>
            <a:r>
              <a:rPr lang="en-US" sz="1500" dirty="0">
                <a:solidFill>
                  <a:schemeClr val="tx2"/>
                </a:solidFill>
              </a:rPr>
              <a:t>Material origin, recycled content and carbon footprint are reported by many different parties and are hard to cross-check.</a:t>
            </a:r>
            <a:endParaRPr lang="en-US" sz="1500" dirty="0"/>
          </a:p>
        </p:txBody>
      </p:sp>
      <p:sp>
        <p:nvSpPr>
          <p:cNvPr id="9" name="problem-2-badge"/>
          <p:cNvSpPr/>
          <p:nvPr/>
        </p:nvSpPr>
        <p:spPr>
          <a:xfrm>
            <a:off x="548640" y="417880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problem-2-title"/>
          <p:cNvSpPr txBox="1"/>
          <p:nvPr/>
        </p:nvSpPr>
        <p:spPr>
          <a:xfrm>
            <a:off x="1188720" y="4160520"/>
            <a:ext cx="4846320" cy="365760"/>
          </a:xfrm>
          <a:prstGeom prst="rect">
            <a:avLst/>
          </a:prstGeom>
          <a:noFill/>
          <a:ln/>
        </p:spPr>
        <p:txBody>
          <a:bodyPr wrap="square" lIns="0" tIns="0" rIns="0" bIns="0" rtlCol="0" anchor="t"/>
          <a:lstStyle/>
          <a:p>
            <a:pPr algn="l" indent="0" marL="0">
              <a:buNone/>
            </a:pPr>
            <a:r>
              <a:rPr lang="en-US" sz="1800" b="1" dirty="0">
                <a:solidFill>
                  <a:schemeClr val="tx1"/>
                </a:solidFill>
              </a:rPr>
              <a:t>Regulatory pressure</a:t>
            </a:r>
            <a:endParaRPr lang="en-US" sz="1800" dirty="0"/>
          </a:p>
        </p:txBody>
      </p:sp>
      <p:sp>
        <p:nvSpPr>
          <p:cNvPr id="11" name="problem-2-body"/>
          <p:cNvSpPr txBox="1"/>
          <p:nvPr/>
        </p:nvSpPr>
        <p:spPr>
          <a:xfrm>
            <a:off x="1188720" y="4544568"/>
            <a:ext cx="4846320" cy="868680"/>
          </a:xfrm>
          <a:prstGeom prst="rect">
            <a:avLst/>
          </a:prstGeom>
          <a:noFill/>
          <a:ln/>
        </p:spPr>
        <p:txBody>
          <a:bodyPr wrap="square" lIns="0" tIns="0" rIns="0" bIns="0" rtlCol="0" anchor="t"/>
          <a:lstStyle/>
          <a:p>
            <a:pPr algn="l" indent="0" marL="0">
              <a:buNone/>
            </a:pPr>
            <a:r>
              <a:rPr lang="en-US" sz="1500" dirty="0">
                <a:solidFill>
                  <a:schemeClr val="tx2"/>
                </a:solidFill>
              </a:rPr>
              <a:t>EU Battery Regulation (EU) 2023/1542 requires a digital battery passport for EV batteries from February 2027 [1].</a:t>
            </a:r>
            <a:endParaRPr lang="en-US" sz="1500" dirty="0"/>
          </a:p>
        </p:txBody>
      </p:sp>
      <p:sp>
        <p:nvSpPr>
          <p:cNvPr id="12" name="chain-label"/>
          <p:cNvSpPr txBox="1"/>
          <p:nvPr/>
        </p:nvSpPr>
        <p:spPr>
          <a:xfrm>
            <a:off x="6492240" y="1371600"/>
            <a:ext cx="5148072" cy="320040"/>
          </a:xfrm>
          <a:prstGeom prst="rect">
            <a:avLst/>
          </a:prstGeom>
          <a:noFill/>
          <a:ln/>
        </p:spPr>
        <p:txBody>
          <a:bodyPr wrap="square" lIns="0" tIns="0" rIns="0" bIns="0" rtlCol="0" anchor="t"/>
          <a:lstStyle/>
          <a:p>
            <a:pPr algn="l" indent="0" marL="0">
              <a:buNone/>
            </a:pPr>
            <a:r>
              <a:rPr lang="en-US" sz="1300" b="1" dirty="0">
                <a:solidFill>
                  <a:schemeClr val="accent6"/>
                </a:solidFill>
              </a:rPr>
              <a:t>A battery passes through many independent organisations</a:t>
            </a:r>
            <a:endParaRPr lang="en-US" sz="1300" dirty="0"/>
          </a:p>
        </p:txBody>
      </p:sp>
      <p:sp>
        <p:nvSpPr>
          <p:cNvPr id="13" name="chain-0"/>
          <p:cNvSpPr/>
          <p:nvPr/>
        </p:nvSpPr>
        <p:spPr>
          <a:xfrm>
            <a:off x="6492240" y="1737360"/>
            <a:ext cx="5148072" cy="457200"/>
          </a:xfrm>
          <a:prstGeom prst="roundRect">
            <a:avLst>
              <a:gd name="adj" fmla="val 16000"/>
            </a:avLst>
          </a:prstGeom>
          <a:solidFill>
            <a:schemeClr val="bg2"/>
          </a:solidFill>
          <a:ln/>
        </p:spPr>
      </p:sp>
      <p:sp>
        <p:nvSpPr>
          <p:cNvPr id="14" name="chain-0-text"/>
          <p:cNvSpPr txBox="1"/>
          <p:nvPr/>
        </p:nvSpPr>
        <p:spPr>
          <a:xfrm>
            <a:off x="6675120" y="1737360"/>
            <a:ext cx="4846320" cy="457200"/>
          </a:xfrm>
          <a:prstGeom prst="rect">
            <a:avLst/>
          </a:prstGeom>
          <a:noFill/>
          <a:ln/>
        </p:spPr>
        <p:txBody>
          <a:bodyPr wrap="square" lIns="0" tIns="0" rIns="0" bIns="0" rtlCol="0" anchor="ctr"/>
          <a:lstStyle/>
          <a:p>
            <a:pPr indent="0" marL="0">
              <a:buNone/>
            </a:pPr>
            <a:r>
              <a:rPr lang="en-US" sz="1400" b="1" dirty="0">
                <a:solidFill>
                  <a:schemeClr val="tx1"/>
                </a:solidFill>
              </a:rPr>
              <a:t>Mining</a:t>
            </a:r>
            <a:pPr indent="0" marL="0">
              <a:buNone/>
            </a:pPr>
            <a:r>
              <a:rPr lang="en-US" sz="1400" dirty="0">
                <a:solidFill>
                  <a:schemeClr val="accent6"/>
                </a:solidFill>
              </a:rPr>
              <a:t>   mining companies</a:t>
            </a:r>
            <a:endParaRPr lang="en-US" sz="1400" dirty="0"/>
          </a:p>
        </p:txBody>
      </p:sp>
      <p:sp>
        <p:nvSpPr>
          <p:cNvPr id="15" name="chain-0-arrow"/>
          <p:cNvSpPr/>
          <p:nvPr/>
        </p:nvSpPr>
        <p:spPr>
          <a:xfrm>
            <a:off x="9052560" y="2194560"/>
            <a:ext cx="0" cy="164592"/>
          </a:xfrm>
          <a:prstGeom prst="line">
            <a:avLst/>
          </a:prstGeom>
          <a:noFill/>
          <a:ln w="19050">
            <a:solidFill>
              <a:schemeClr val="accent6"/>
            </a:solidFill>
            <a:prstDash val="solid"/>
            <a:tailEnd type="triangle"/>
          </a:ln>
        </p:spPr>
      </p:sp>
      <p:sp>
        <p:nvSpPr>
          <p:cNvPr id="16" name="chain-1"/>
          <p:cNvSpPr/>
          <p:nvPr/>
        </p:nvSpPr>
        <p:spPr>
          <a:xfrm>
            <a:off x="6492240" y="2359152"/>
            <a:ext cx="5148072" cy="457200"/>
          </a:xfrm>
          <a:prstGeom prst="roundRect">
            <a:avLst>
              <a:gd name="adj" fmla="val 16000"/>
            </a:avLst>
          </a:prstGeom>
          <a:solidFill>
            <a:schemeClr val="bg2"/>
          </a:solidFill>
          <a:ln/>
        </p:spPr>
      </p:sp>
      <p:sp>
        <p:nvSpPr>
          <p:cNvPr id="17" name="chain-1-text"/>
          <p:cNvSpPr txBox="1"/>
          <p:nvPr/>
        </p:nvSpPr>
        <p:spPr>
          <a:xfrm>
            <a:off x="6675120" y="2359152"/>
            <a:ext cx="4846320" cy="457200"/>
          </a:xfrm>
          <a:prstGeom prst="rect">
            <a:avLst/>
          </a:prstGeom>
          <a:noFill/>
          <a:ln/>
        </p:spPr>
        <p:txBody>
          <a:bodyPr wrap="square" lIns="0" tIns="0" rIns="0" bIns="0" rtlCol="0" anchor="ctr"/>
          <a:lstStyle/>
          <a:p>
            <a:pPr indent="0" marL="0">
              <a:buNone/>
            </a:pPr>
            <a:r>
              <a:rPr lang="en-US" sz="1400" b="1" dirty="0">
                <a:solidFill>
                  <a:schemeClr val="tx1"/>
                </a:solidFill>
              </a:rPr>
              <a:t>Refining</a:t>
            </a:r>
            <a:pPr indent="0" marL="0">
              <a:buNone/>
            </a:pPr>
            <a:r>
              <a:rPr lang="en-US" sz="1400" dirty="0">
                <a:solidFill>
                  <a:schemeClr val="accent6"/>
                </a:solidFill>
              </a:rPr>
              <a:t>   material refiners</a:t>
            </a:r>
            <a:endParaRPr lang="en-US" sz="1400" dirty="0"/>
          </a:p>
        </p:txBody>
      </p:sp>
      <p:sp>
        <p:nvSpPr>
          <p:cNvPr id="18" name="chain-1-arrow"/>
          <p:cNvSpPr/>
          <p:nvPr/>
        </p:nvSpPr>
        <p:spPr>
          <a:xfrm>
            <a:off x="9052560" y="2816352"/>
            <a:ext cx="0" cy="164592"/>
          </a:xfrm>
          <a:prstGeom prst="line">
            <a:avLst/>
          </a:prstGeom>
          <a:noFill/>
          <a:ln w="19050">
            <a:solidFill>
              <a:schemeClr val="accent6"/>
            </a:solidFill>
            <a:prstDash val="solid"/>
            <a:tailEnd type="triangle"/>
          </a:ln>
        </p:spPr>
      </p:sp>
      <p:sp>
        <p:nvSpPr>
          <p:cNvPr id="19" name="chain-2"/>
          <p:cNvSpPr/>
          <p:nvPr/>
        </p:nvSpPr>
        <p:spPr>
          <a:xfrm>
            <a:off x="6492240" y="2980944"/>
            <a:ext cx="5148072" cy="457200"/>
          </a:xfrm>
          <a:prstGeom prst="roundRect">
            <a:avLst>
              <a:gd name="adj" fmla="val 16000"/>
            </a:avLst>
          </a:prstGeom>
          <a:solidFill>
            <a:schemeClr val="bg2"/>
          </a:solidFill>
          <a:ln/>
        </p:spPr>
      </p:sp>
      <p:sp>
        <p:nvSpPr>
          <p:cNvPr id="20" name="chain-2-text"/>
          <p:cNvSpPr txBox="1"/>
          <p:nvPr/>
        </p:nvSpPr>
        <p:spPr>
          <a:xfrm>
            <a:off x="6675120" y="2980944"/>
            <a:ext cx="4846320" cy="457200"/>
          </a:xfrm>
          <a:prstGeom prst="rect">
            <a:avLst/>
          </a:prstGeom>
          <a:noFill/>
          <a:ln/>
        </p:spPr>
        <p:txBody>
          <a:bodyPr wrap="square" lIns="0" tIns="0" rIns="0" bIns="0" rtlCol="0" anchor="ctr"/>
          <a:lstStyle/>
          <a:p>
            <a:pPr indent="0" marL="0">
              <a:buNone/>
            </a:pPr>
            <a:r>
              <a:rPr lang="en-US" sz="1400" b="1" dirty="0">
                <a:solidFill>
                  <a:schemeClr val="tx1"/>
                </a:solidFill>
              </a:rPr>
              <a:t>Cell &amp; pack manufacturing</a:t>
            </a:r>
            <a:pPr indent="0" marL="0">
              <a:buNone/>
            </a:pPr>
            <a:r>
              <a:rPr lang="en-US" sz="1400" dirty="0">
                <a:solidFill>
                  <a:schemeClr val="accent6"/>
                </a:solidFill>
              </a:rPr>
              <a:t>   battery manufacturers</a:t>
            </a:r>
            <a:endParaRPr lang="en-US" sz="1400" dirty="0"/>
          </a:p>
        </p:txBody>
      </p:sp>
      <p:sp>
        <p:nvSpPr>
          <p:cNvPr id="21" name="chain-2-arrow"/>
          <p:cNvSpPr/>
          <p:nvPr/>
        </p:nvSpPr>
        <p:spPr>
          <a:xfrm>
            <a:off x="9052560" y="3438144"/>
            <a:ext cx="0" cy="164592"/>
          </a:xfrm>
          <a:prstGeom prst="line">
            <a:avLst/>
          </a:prstGeom>
          <a:noFill/>
          <a:ln w="19050">
            <a:solidFill>
              <a:schemeClr val="accent6"/>
            </a:solidFill>
            <a:prstDash val="solid"/>
            <a:tailEnd type="triangle"/>
          </a:ln>
        </p:spPr>
      </p:sp>
      <p:sp>
        <p:nvSpPr>
          <p:cNvPr id="22" name="chain-3"/>
          <p:cNvSpPr/>
          <p:nvPr/>
        </p:nvSpPr>
        <p:spPr>
          <a:xfrm>
            <a:off x="6492240" y="3602736"/>
            <a:ext cx="5148072" cy="457200"/>
          </a:xfrm>
          <a:prstGeom prst="roundRect">
            <a:avLst>
              <a:gd name="adj" fmla="val 16000"/>
            </a:avLst>
          </a:prstGeom>
          <a:solidFill>
            <a:schemeClr val="bg2"/>
          </a:solidFill>
          <a:ln/>
        </p:spPr>
      </p:sp>
      <p:sp>
        <p:nvSpPr>
          <p:cNvPr id="23" name="chain-3-text"/>
          <p:cNvSpPr txBox="1"/>
          <p:nvPr/>
        </p:nvSpPr>
        <p:spPr>
          <a:xfrm>
            <a:off x="6675120" y="3602736"/>
            <a:ext cx="4846320" cy="457200"/>
          </a:xfrm>
          <a:prstGeom prst="rect">
            <a:avLst/>
          </a:prstGeom>
          <a:noFill/>
          <a:ln/>
        </p:spPr>
        <p:txBody>
          <a:bodyPr wrap="square" lIns="0" tIns="0" rIns="0" bIns="0" rtlCol="0" anchor="ctr"/>
          <a:lstStyle/>
          <a:p>
            <a:pPr indent="0" marL="0">
              <a:buNone/>
            </a:pPr>
            <a:r>
              <a:rPr lang="en-US" sz="1400" b="1" dirty="0">
                <a:solidFill>
                  <a:schemeClr val="tx1"/>
                </a:solidFill>
              </a:rPr>
              <a:t>Vehicle assembly</a:t>
            </a:r>
            <a:pPr indent="0" marL="0">
              <a:buNone/>
            </a:pPr>
            <a:r>
              <a:rPr lang="en-US" sz="1400" dirty="0">
                <a:solidFill>
                  <a:schemeClr val="accent6"/>
                </a:solidFill>
              </a:rPr>
              <a:t>   car manufacturer</a:t>
            </a:r>
            <a:endParaRPr lang="en-US" sz="1400" dirty="0"/>
          </a:p>
        </p:txBody>
      </p:sp>
      <p:sp>
        <p:nvSpPr>
          <p:cNvPr id="24" name="chain-3-arrow"/>
          <p:cNvSpPr/>
          <p:nvPr/>
        </p:nvSpPr>
        <p:spPr>
          <a:xfrm>
            <a:off x="9052560" y="4059936"/>
            <a:ext cx="0" cy="164592"/>
          </a:xfrm>
          <a:prstGeom prst="line">
            <a:avLst/>
          </a:prstGeom>
          <a:noFill/>
          <a:ln w="19050">
            <a:solidFill>
              <a:schemeClr val="accent6"/>
            </a:solidFill>
            <a:prstDash val="solid"/>
            <a:tailEnd type="triangle"/>
          </a:ln>
        </p:spPr>
      </p:sp>
      <p:sp>
        <p:nvSpPr>
          <p:cNvPr id="25" name="chain-4"/>
          <p:cNvSpPr/>
          <p:nvPr/>
        </p:nvSpPr>
        <p:spPr>
          <a:xfrm>
            <a:off x="6492240" y="4224528"/>
            <a:ext cx="5148072" cy="457200"/>
          </a:xfrm>
          <a:prstGeom prst="roundRect">
            <a:avLst>
              <a:gd name="adj" fmla="val 16000"/>
            </a:avLst>
          </a:prstGeom>
          <a:solidFill>
            <a:schemeClr val="bg2"/>
          </a:solidFill>
          <a:ln/>
        </p:spPr>
      </p:sp>
      <p:sp>
        <p:nvSpPr>
          <p:cNvPr id="26" name="chain-4-text"/>
          <p:cNvSpPr txBox="1"/>
          <p:nvPr/>
        </p:nvSpPr>
        <p:spPr>
          <a:xfrm>
            <a:off x="6675120" y="4224528"/>
            <a:ext cx="4846320" cy="457200"/>
          </a:xfrm>
          <a:prstGeom prst="rect">
            <a:avLst/>
          </a:prstGeom>
          <a:noFill/>
          <a:ln/>
        </p:spPr>
        <p:txBody>
          <a:bodyPr wrap="square" lIns="0" tIns="0" rIns="0" bIns="0" rtlCol="0" anchor="ctr"/>
          <a:lstStyle/>
          <a:p>
            <a:pPr indent="0" marL="0">
              <a:buNone/>
            </a:pPr>
            <a:r>
              <a:rPr lang="en-US" sz="1400" b="1" dirty="0">
                <a:solidFill>
                  <a:schemeClr val="tx1"/>
                </a:solidFill>
              </a:rPr>
              <a:t>Distribution &amp; use</a:t>
            </a:r>
            <a:pPr indent="0" marL="0">
              <a:buNone/>
            </a:pPr>
            <a:r>
              <a:rPr lang="en-US" sz="1400" dirty="0">
                <a:solidFill>
                  <a:schemeClr val="accent6"/>
                </a:solidFill>
              </a:rPr>
              <a:t>   logistics, customers</a:t>
            </a:r>
            <a:endParaRPr lang="en-US" sz="1400" dirty="0"/>
          </a:p>
        </p:txBody>
      </p:sp>
      <p:sp>
        <p:nvSpPr>
          <p:cNvPr id="27" name="chain-4-arrow"/>
          <p:cNvSpPr/>
          <p:nvPr/>
        </p:nvSpPr>
        <p:spPr>
          <a:xfrm>
            <a:off x="9052560" y="4681728"/>
            <a:ext cx="0" cy="164592"/>
          </a:xfrm>
          <a:prstGeom prst="line">
            <a:avLst/>
          </a:prstGeom>
          <a:noFill/>
          <a:ln w="19050">
            <a:solidFill>
              <a:schemeClr val="accent6"/>
            </a:solidFill>
            <a:prstDash val="solid"/>
            <a:tailEnd type="triangle"/>
          </a:ln>
        </p:spPr>
      </p:sp>
      <p:sp>
        <p:nvSpPr>
          <p:cNvPr id="28" name="chain-5"/>
          <p:cNvSpPr/>
          <p:nvPr/>
        </p:nvSpPr>
        <p:spPr>
          <a:xfrm>
            <a:off x="6492240" y="4846320"/>
            <a:ext cx="5148072" cy="457200"/>
          </a:xfrm>
          <a:prstGeom prst="roundRect">
            <a:avLst>
              <a:gd name="adj" fmla="val 16000"/>
            </a:avLst>
          </a:prstGeom>
          <a:solidFill>
            <a:schemeClr val="accent3">
              <a:alpha val="15000"/>
            </a:schemeClr>
          </a:solidFill>
          <a:ln/>
        </p:spPr>
      </p:sp>
      <p:sp>
        <p:nvSpPr>
          <p:cNvPr id="29" name="chain-5-text"/>
          <p:cNvSpPr txBox="1"/>
          <p:nvPr/>
        </p:nvSpPr>
        <p:spPr>
          <a:xfrm>
            <a:off x="6675120" y="4846320"/>
            <a:ext cx="4846320" cy="457200"/>
          </a:xfrm>
          <a:prstGeom prst="rect">
            <a:avLst/>
          </a:prstGeom>
          <a:noFill/>
          <a:ln/>
        </p:spPr>
        <p:txBody>
          <a:bodyPr wrap="square" lIns="0" tIns="0" rIns="0" bIns="0" rtlCol="0" anchor="ctr"/>
          <a:lstStyle/>
          <a:p>
            <a:pPr indent="0" marL="0">
              <a:buNone/>
            </a:pPr>
            <a:r>
              <a:rPr lang="en-US" sz="1400" b="1" dirty="0">
                <a:solidFill>
                  <a:schemeClr val="tx1"/>
                </a:solidFill>
              </a:rPr>
              <a:t>End of life &amp; recycling</a:t>
            </a:r>
            <a:pPr indent="0" marL="0">
              <a:buNone/>
            </a:pPr>
            <a:r>
              <a:rPr lang="en-US" sz="1400" dirty="0">
                <a:solidFill>
                  <a:schemeClr val="accent6"/>
                </a:solidFill>
              </a:rPr>
              <a:t>   collectors, recyclers</a:t>
            </a:r>
            <a:endParaRPr lang="en-US" sz="1400" dirty="0"/>
          </a:p>
        </p:txBody>
      </p:sp>
      <p:sp>
        <p:nvSpPr>
          <p:cNvPr id="30" name="chain-loop"/>
          <p:cNvSpPr txBox="1"/>
          <p:nvPr/>
        </p:nvSpPr>
        <p:spPr>
          <a:xfrm>
            <a:off x="6492240" y="5440680"/>
            <a:ext cx="5148072" cy="274320"/>
          </a:xfrm>
          <a:prstGeom prst="rect">
            <a:avLst/>
          </a:prstGeom>
          <a:noFill/>
          <a:ln/>
        </p:spPr>
        <p:txBody>
          <a:bodyPr wrap="square" lIns="0" tIns="0" rIns="0" bIns="0" rtlCol="0" anchor="t"/>
          <a:lstStyle/>
          <a:p>
            <a:pPr algn="l" indent="0" marL="0">
              <a:buNone/>
            </a:pPr>
            <a:r>
              <a:rPr lang="en-US" sz="1200" i="1" dirty="0">
                <a:solidFill>
                  <a:schemeClr val="accent6"/>
                </a:solidFill>
              </a:rPr>
              <a:t>Recovered materials can re-enter the chain (circular economy).</a:t>
            </a:r>
            <a:endParaRPr lang="en-US" sz="1200" dirty="0"/>
          </a:p>
        </p:txBody>
      </p:sp>
      <p:sp>
        <p:nvSpPr>
          <p:cNvPr id="31" name="motivation-bg"/>
          <p:cNvSpPr/>
          <p:nvPr/>
        </p:nvSpPr>
        <p:spPr>
          <a:xfrm>
            <a:off x="548640" y="5779008"/>
            <a:ext cx="11091672" cy="502920"/>
          </a:xfrm>
          <a:prstGeom prst="roundRect">
            <a:avLst>
              <a:gd name="adj" fmla="val 14545"/>
            </a:avLst>
          </a:prstGeom>
          <a:solidFill>
            <a:schemeClr val="accent1">
              <a:alpha val="13000"/>
            </a:schemeClr>
          </a:solidFill>
          <a:ln/>
        </p:spPr>
      </p:sp>
      <p:sp>
        <p:nvSpPr>
          <p:cNvPr id="32" name="motivation"/>
          <p:cNvSpPr txBox="1"/>
          <p:nvPr/>
        </p:nvSpPr>
        <p:spPr>
          <a:xfrm>
            <a:off x="777240" y="5779008"/>
            <a:ext cx="10698480" cy="502920"/>
          </a:xfrm>
          <a:prstGeom prst="rect">
            <a:avLst/>
          </a:prstGeom>
          <a:noFill/>
          <a:ln/>
        </p:spPr>
        <p:txBody>
          <a:bodyPr wrap="square" lIns="0" tIns="0" rIns="0" bIns="0" rtlCol="0" anchor="ctr"/>
          <a:lstStyle/>
          <a:p>
            <a:pPr indent="0" marL="0">
              <a:buNone/>
            </a:pPr>
            <a:r>
              <a:rPr lang="en-US" sz="1500" b="1" dirty="0">
                <a:solidFill>
                  <a:schemeClr val="accent1"/>
                </a:solidFill>
              </a:rPr>
              <a:t>Motivation: </a:t>
            </a:r>
            <a:pPr indent="0" marL="0">
              <a:buNone/>
            </a:pPr>
            <a:r>
              <a:rPr lang="en-US" sz="1500" dirty="0">
                <a:solidFill>
                  <a:schemeClr val="tx1"/>
                </a:solidFill>
              </a:rPr>
              <a:t>one shared, tamper-evident record that authorised participants write to and anyone can read.</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Objectives and scope</a:t>
            </a:r>
            <a:endParaRPr lang="en-US" sz="3400" dirty="0"/>
          </a:p>
        </p:txBody>
      </p:sp>
      <p:sp>
        <p:nvSpPr>
          <p:cNvPr id="3" name="obj-header"/>
          <p:cNvSpPr txBox="1"/>
          <p:nvPr/>
        </p:nvSpPr>
        <p:spPr>
          <a:xfrm>
            <a:off x="548640" y="1325880"/>
            <a:ext cx="5669280" cy="365760"/>
          </a:xfrm>
          <a:prstGeom prst="rect">
            <a:avLst/>
          </a:prstGeom>
          <a:noFill/>
          <a:ln/>
        </p:spPr>
        <p:txBody>
          <a:bodyPr wrap="square" lIns="0" tIns="0" rIns="0" bIns="0" rtlCol="0" anchor="t"/>
          <a:lstStyle/>
          <a:p>
            <a:pPr algn="l" indent="0" marL="0">
              <a:buNone/>
            </a:pPr>
            <a:r>
              <a:rPr lang="en-US" sz="2000" b="1" dirty="0">
                <a:solidFill>
                  <a:schemeClr val="accent1"/>
                </a:solidFill>
              </a:rPr>
              <a:t>Objectives</a:t>
            </a:r>
            <a:endParaRPr lang="en-US" sz="2000" dirty="0"/>
          </a:p>
        </p:txBody>
      </p:sp>
      <p:sp>
        <p:nvSpPr>
          <p:cNvPr id="4" name="obj-0-badge"/>
          <p:cNvSpPr/>
          <p:nvPr/>
        </p:nvSpPr>
        <p:spPr>
          <a:xfrm>
            <a:off x="548640" y="189280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obj-0-text"/>
          <p:cNvSpPr txBox="1"/>
          <p:nvPr/>
        </p:nvSpPr>
        <p:spPr>
          <a:xfrm>
            <a:off x="1097280" y="1828800"/>
            <a:ext cx="5120640" cy="512064"/>
          </a:xfrm>
          <a:prstGeom prst="rect">
            <a:avLst/>
          </a:prstGeom>
          <a:noFill/>
          <a:ln/>
        </p:spPr>
        <p:txBody>
          <a:bodyPr wrap="square" lIns="0" tIns="0" rIns="0" bIns="0" rtlCol="0" anchor="ctr"/>
          <a:lstStyle/>
          <a:p>
            <a:pPr algn="l" indent="0" marL="0">
              <a:buNone/>
            </a:pPr>
            <a:r>
              <a:rPr lang="en-US" sz="1600" dirty="0">
                <a:solidFill>
                  <a:schemeClr val="tx1"/>
                </a:solidFill>
              </a:rPr>
              <a:t>Record a battery batch’s lifecycle on-chain in a fixed order</a:t>
            </a:r>
            <a:endParaRPr lang="en-US" sz="1600" dirty="0"/>
          </a:p>
        </p:txBody>
      </p:sp>
      <p:sp>
        <p:nvSpPr>
          <p:cNvPr id="6" name="obj-1-badge"/>
          <p:cNvSpPr/>
          <p:nvPr/>
        </p:nvSpPr>
        <p:spPr>
          <a:xfrm>
            <a:off x="548640" y="25511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7" name="obj-1-text"/>
          <p:cNvSpPr txBox="1"/>
          <p:nvPr/>
        </p:nvSpPr>
        <p:spPr>
          <a:xfrm>
            <a:off x="1097280" y="2487168"/>
            <a:ext cx="5120640" cy="512064"/>
          </a:xfrm>
          <a:prstGeom prst="rect">
            <a:avLst/>
          </a:prstGeom>
          <a:noFill/>
          <a:ln/>
        </p:spPr>
        <p:txBody>
          <a:bodyPr wrap="square" lIns="0" tIns="0" rIns="0" bIns="0" rtlCol="0" anchor="ctr"/>
          <a:lstStyle/>
          <a:p>
            <a:pPr algn="l" indent="0" marL="0">
              <a:buNone/>
            </a:pPr>
            <a:r>
              <a:rPr lang="en-US" sz="1600" dirty="0">
                <a:solidFill>
                  <a:schemeClr val="tx1"/>
                </a:solidFill>
              </a:rPr>
              <a:t>Allow each update only from an authorised on-chain role</a:t>
            </a:r>
            <a:endParaRPr lang="en-US" sz="1600" dirty="0"/>
          </a:p>
        </p:txBody>
      </p:sp>
      <p:sp>
        <p:nvSpPr>
          <p:cNvPr id="8" name="obj-2-badge"/>
          <p:cNvSpPr/>
          <p:nvPr/>
        </p:nvSpPr>
        <p:spPr>
          <a:xfrm>
            <a:off x="548640" y="320954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obj-2-text"/>
          <p:cNvSpPr txBox="1"/>
          <p:nvPr/>
        </p:nvSpPr>
        <p:spPr>
          <a:xfrm>
            <a:off x="1097280" y="3145536"/>
            <a:ext cx="5120640" cy="512064"/>
          </a:xfrm>
          <a:prstGeom prst="rect">
            <a:avLst/>
          </a:prstGeom>
          <a:noFill/>
          <a:ln/>
        </p:spPr>
        <p:txBody>
          <a:bodyPr wrap="square" lIns="0" tIns="0" rIns="0" bIns="0" rtlCol="0" anchor="ctr"/>
          <a:lstStyle/>
          <a:p>
            <a:pPr algn="l" indent="0" marL="0">
              <a:buNone/>
            </a:pPr>
            <a:r>
              <a:rPr lang="en-US" sz="1600" dirty="0">
                <a:solidFill>
                  <a:schemeClr val="tx1"/>
                </a:solidFill>
              </a:rPr>
              <a:t>Offer a public passport that needs no wallet to view</a:t>
            </a:r>
            <a:endParaRPr lang="en-US" sz="1600" dirty="0"/>
          </a:p>
        </p:txBody>
      </p:sp>
      <p:sp>
        <p:nvSpPr>
          <p:cNvPr id="10" name="obj-3-badge"/>
          <p:cNvSpPr/>
          <p:nvPr/>
        </p:nvSpPr>
        <p:spPr>
          <a:xfrm>
            <a:off x="548640" y="386791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1" name="obj-3-text"/>
          <p:cNvSpPr txBox="1"/>
          <p:nvPr/>
        </p:nvSpPr>
        <p:spPr>
          <a:xfrm>
            <a:off x="1097280" y="3803904"/>
            <a:ext cx="5120640" cy="512064"/>
          </a:xfrm>
          <a:prstGeom prst="rect">
            <a:avLst/>
          </a:prstGeom>
          <a:noFill/>
          <a:ln/>
        </p:spPr>
        <p:txBody>
          <a:bodyPr wrap="square" lIns="0" tIns="0" rIns="0" bIns="0" rtlCol="0" anchor="ctr"/>
          <a:lstStyle/>
          <a:p>
            <a:pPr algn="l" indent="0" marL="0">
              <a:buNone/>
            </a:pPr>
            <a:r>
              <a:rPr lang="en-US" sz="1600" dirty="0">
                <a:solidFill>
                  <a:schemeClr val="tx1"/>
                </a:solidFill>
              </a:rPr>
              <a:t>Link every passport to a QR code</a:t>
            </a:r>
            <a:endParaRPr lang="en-US" sz="1600" dirty="0"/>
          </a:p>
        </p:txBody>
      </p:sp>
      <p:sp>
        <p:nvSpPr>
          <p:cNvPr id="12" name="obj-4-badge"/>
          <p:cNvSpPr/>
          <p:nvPr/>
        </p:nvSpPr>
        <p:spPr>
          <a:xfrm>
            <a:off x="548640" y="4526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3" name="obj-4-text"/>
          <p:cNvSpPr txBox="1"/>
          <p:nvPr/>
        </p:nvSpPr>
        <p:spPr>
          <a:xfrm>
            <a:off x="1097280" y="4462272"/>
            <a:ext cx="5120640" cy="512064"/>
          </a:xfrm>
          <a:prstGeom prst="rect">
            <a:avLst/>
          </a:prstGeom>
          <a:noFill/>
          <a:ln/>
        </p:spPr>
        <p:txBody>
          <a:bodyPr wrap="square" lIns="0" tIns="0" rIns="0" bIns="0" rtlCol="0" anchor="ctr"/>
          <a:lstStyle/>
          <a:p>
            <a:pPr algn="l" indent="0" marL="0">
              <a:buNone/>
            </a:pPr>
            <a:r>
              <a:rPr lang="en-US" sz="1600" dirty="0">
                <a:solidFill>
                  <a:schemeClr val="tx1"/>
                </a:solidFill>
              </a:rPr>
              <a:t>Sign every update with the participant’s own MetaMask account</a:t>
            </a:r>
            <a:endParaRPr lang="en-US" sz="1600" dirty="0"/>
          </a:p>
        </p:txBody>
      </p:sp>
      <p:sp>
        <p:nvSpPr>
          <p:cNvPr id="14" name="obj-5-badge"/>
          <p:cNvSpPr/>
          <p:nvPr/>
        </p:nvSpPr>
        <p:spPr>
          <a:xfrm>
            <a:off x="548640" y="518464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5" name="obj-5-text"/>
          <p:cNvSpPr txBox="1"/>
          <p:nvPr/>
        </p:nvSpPr>
        <p:spPr>
          <a:xfrm>
            <a:off x="1097280" y="5120640"/>
            <a:ext cx="5120640" cy="512064"/>
          </a:xfrm>
          <a:prstGeom prst="rect">
            <a:avLst/>
          </a:prstGeom>
          <a:noFill/>
          <a:ln/>
        </p:spPr>
        <p:txBody>
          <a:bodyPr wrap="square" lIns="0" tIns="0" rIns="0" bIns="0" rtlCol="0" anchor="ctr"/>
          <a:lstStyle/>
          <a:p>
            <a:pPr algn="l" indent="0" marL="0">
              <a:buNone/>
            </a:pPr>
            <a:r>
              <a:rPr lang="en-US" sz="1600" dirty="0">
                <a:solidFill>
                  <a:schemeClr val="tx1"/>
                </a:solidFill>
              </a:rPr>
              <a:t>Verify the contract’s rules with automated tests</a:t>
            </a:r>
            <a:endParaRPr lang="en-US" sz="1600" dirty="0"/>
          </a:p>
        </p:txBody>
      </p:sp>
      <p:sp>
        <p:nvSpPr>
          <p:cNvPr id="16" name="in-scope-bg"/>
          <p:cNvSpPr/>
          <p:nvPr/>
        </p:nvSpPr>
        <p:spPr>
          <a:xfrm>
            <a:off x="6583680" y="1325880"/>
            <a:ext cx="5056632" cy="2286000"/>
          </a:xfrm>
          <a:prstGeom prst="roundRect">
            <a:avLst>
              <a:gd name="adj" fmla="val 3200"/>
            </a:avLst>
          </a:prstGeom>
          <a:solidFill>
            <a:schemeClr val="accent3">
              <a:alpha val="10000"/>
            </a:schemeClr>
          </a:solidFill>
          <a:ln/>
        </p:spPr>
      </p:sp>
      <p:sp>
        <p:nvSpPr>
          <p:cNvPr id="17" name="in-scope-title"/>
          <p:cNvSpPr txBox="1"/>
          <p:nvPr/>
        </p:nvSpPr>
        <p:spPr>
          <a:xfrm>
            <a:off x="6812280" y="1463040"/>
            <a:ext cx="4663440" cy="365760"/>
          </a:xfrm>
          <a:prstGeom prst="rect">
            <a:avLst/>
          </a:prstGeom>
          <a:noFill/>
          <a:ln/>
        </p:spPr>
        <p:txBody>
          <a:bodyPr wrap="square" lIns="0" tIns="0" rIns="0" bIns="0" rtlCol="0" anchor="t"/>
          <a:lstStyle/>
          <a:p>
            <a:pPr algn="l" indent="0" marL="0">
              <a:buNone/>
            </a:pPr>
            <a:r>
              <a:rPr lang="en-US" sz="1700" b="1" dirty="0">
                <a:solidFill>
                  <a:schemeClr val="accent3"/>
                </a:solidFill>
              </a:rPr>
              <a:t>In scope (implemented)</a:t>
            </a:r>
            <a:endParaRPr lang="en-US" sz="1700" dirty="0"/>
          </a:p>
        </p:txBody>
      </p:sp>
      <p:sp>
        <p:nvSpPr>
          <p:cNvPr id="18" name="in-scope-list"/>
          <p:cNvSpPr txBox="1"/>
          <p:nvPr/>
        </p:nvSpPr>
        <p:spPr>
          <a:xfrm>
            <a:off x="6812280" y="1874520"/>
            <a:ext cx="4663440" cy="1645920"/>
          </a:xfrm>
          <a:prstGeom prst="rect">
            <a:avLst/>
          </a:prstGeom>
          <a:noFill/>
          <a:ln/>
        </p:spPr>
        <p:txBody>
          <a:bodyPr wrap="square" lIns="0" tIns="0" rIns="0" bIns="0" rtlCol="0" anchor="t"/>
          <a:lstStyle/>
          <a:p>
            <a:pPr algn="l" marL="342900" indent="-342900">
              <a:spcAft>
                <a:spcPts val="300"/>
              </a:spcAft>
              <a:buSzPct val="100000"/>
              <a:buChar char="•"/>
            </a:pPr>
            <a:r>
              <a:rPr lang="en-US" sz="1400" dirty="0">
                <a:solidFill>
                  <a:schemeClr val="tx1"/>
                </a:solidFill>
              </a:rPr>
              <a:t>One Solidity contract: BatteryPassport.sol</a:t>
            </a:r>
            <a:endParaRPr lang="en-US" sz="1400" dirty="0"/>
          </a:p>
          <a:p>
            <a:pPr algn="l" marL="342900" indent="-342900">
              <a:spcAft>
                <a:spcPts val="300"/>
              </a:spcAft>
              <a:buSzPct val="100000"/>
              <a:buChar char="•"/>
            </a:pPr>
            <a:r>
              <a:rPr lang="en-US" sz="1400" dirty="0">
                <a:solidFill>
                  <a:schemeClr val="tx1"/>
                </a:solidFill>
              </a:rPr>
              <a:t>Local Hardhat network, chain ID 31337</a:t>
            </a:r>
            <a:endParaRPr lang="en-US" sz="1400" dirty="0"/>
          </a:p>
          <a:p>
            <a:pPr algn="l" marL="342900" indent="-342900">
              <a:spcAft>
                <a:spcPts val="300"/>
              </a:spcAft>
              <a:buSzPct val="100000"/>
              <a:buChar char="•"/>
            </a:pPr>
            <a:r>
              <a:rPr lang="en-US" sz="1400" dirty="0">
                <a:solidFill>
                  <a:schemeClr val="tx1"/>
                </a:solidFill>
              </a:rPr>
              <a:t>React + Vite single-page dashboard</a:t>
            </a:r>
            <a:endParaRPr lang="en-US" sz="1400" dirty="0"/>
          </a:p>
          <a:p>
            <a:pPr algn="l" marL="342900" indent="-342900">
              <a:spcAft>
                <a:spcPts val="300"/>
              </a:spcAft>
              <a:buSzPct val="100000"/>
              <a:buChar char="•"/>
            </a:pPr>
            <a:r>
              <a:rPr lang="en-US" sz="1400" dirty="0">
                <a:solidFill>
                  <a:schemeClr val="tx1"/>
                </a:solidFill>
              </a:rPr>
              <a:t>5 roles and 6 lifecycle stages</a:t>
            </a:r>
            <a:endParaRPr lang="en-US" sz="1400" dirty="0"/>
          </a:p>
          <a:p>
            <a:pPr algn="l" marL="342900" indent="-342900">
              <a:spcAft>
                <a:spcPts val="300"/>
              </a:spcAft>
              <a:buSzPct val="100000"/>
              <a:buChar char="•"/>
            </a:pPr>
            <a:r>
              <a:rPr lang="en-US" sz="1400" dirty="0">
                <a:solidFill>
                  <a:schemeClr val="tx1"/>
                </a:solidFill>
              </a:rPr>
              <a:t>Fictional demo batches</a:t>
            </a:r>
            <a:endParaRPr lang="en-US" sz="1400" dirty="0"/>
          </a:p>
        </p:txBody>
      </p:sp>
      <p:sp>
        <p:nvSpPr>
          <p:cNvPr id="19" name="out-scope-bg"/>
          <p:cNvSpPr/>
          <p:nvPr/>
        </p:nvSpPr>
        <p:spPr>
          <a:xfrm>
            <a:off x="6583680" y="3794760"/>
            <a:ext cx="5056632" cy="2286000"/>
          </a:xfrm>
          <a:prstGeom prst="roundRect">
            <a:avLst>
              <a:gd name="adj" fmla="val 3200"/>
            </a:avLst>
          </a:prstGeom>
          <a:solidFill>
            <a:schemeClr val="accent5">
              <a:alpha val="8000"/>
            </a:schemeClr>
          </a:solidFill>
          <a:ln/>
        </p:spPr>
      </p:sp>
      <p:sp>
        <p:nvSpPr>
          <p:cNvPr id="20" name="out-scope-title"/>
          <p:cNvSpPr txBox="1"/>
          <p:nvPr/>
        </p:nvSpPr>
        <p:spPr>
          <a:xfrm>
            <a:off x="6812280" y="3931920"/>
            <a:ext cx="4663440" cy="365760"/>
          </a:xfrm>
          <a:prstGeom prst="rect">
            <a:avLst/>
          </a:prstGeom>
          <a:noFill/>
          <a:ln/>
        </p:spPr>
        <p:txBody>
          <a:bodyPr wrap="square" lIns="0" tIns="0" rIns="0" bIns="0" rtlCol="0" anchor="t"/>
          <a:lstStyle/>
          <a:p>
            <a:pPr algn="l" indent="0" marL="0">
              <a:buNone/>
            </a:pPr>
            <a:r>
              <a:rPr lang="en-US" sz="1700" b="1" dirty="0">
                <a:solidFill>
                  <a:schemeClr val="accent5"/>
                </a:solidFill>
              </a:rPr>
              <a:t>Out of scope</a:t>
            </a:r>
            <a:endParaRPr lang="en-US" sz="1700" dirty="0"/>
          </a:p>
        </p:txBody>
      </p:sp>
      <p:sp>
        <p:nvSpPr>
          <p:cNvPr id="21" name="out-scope-list"/>
          <p:cNvSpPr txBox="1"/>
          <p:nvPr/>
        </p:nvSpPr>
        <p:spPr>
          <a:xfrm>
            <a:off x="6812280" y="4343400"/>
            <a:ext cx="4663440" cy="1645920"/>
          </a:xfrm>
          <a:prstGeom prst="rect">
            <a:avLst/>
          </a:prstGeom>
          <a:noFill/>
          <a:ln/>
        </p:spPr>
        <p:txBody>
          <a:bodyPr wrap="square" lIns="0" tIns="0" rIns="0" bIns="0" rtlCol="0" anchor="t"/>
          <a:lstStyle/>
          <a:p>
            <a:pPr algn="l" marL="342900" indent="-342900">
              <a:spcAft>
                <a:spcPts val="300"/>
              </a:spcAft>
              <a:buSzPct val="100000"/>
              <a:buChar char="•"/>
            </a:pPr>
            <a:r>
              <a:rPr lang="en-US" sz="1400" dirty="0">
                <a:solidFill>
                  <a:schemeClr val="tx1"/>
                </a:solidFill>
              </a:rPr>
              <a:t>Deployment to a public blockchain</a:t>
            </a:r>
            <a:endParaRPr lang="en-US" sz="1400" dirty="0"/>
          </a:p>
          <a:p>
            <a:pPr algn="l" marL="342900" indent="-342900">
              <a:spcAft>
                <a:spcPts val="300"/>
              </a:spcAft>
              <a:buSzPct val="100000"/>
              <a:buChar char="•"/>
            </a:pPr>
            <a:r>
              <a:rPr lang="en-US" sz="1400" dirty="0">
                <a:solidFill>
                  <a:schemeClr val="tx1"/>
                </a:solidFill>
              </a:rPr>
              <a:t>Integration with Volvo Cars or Circulor systems</a:t>
            </a:r>
            <a:endParaRPr lang="en-US" sz="1400" dirty="0"/>
          </a:p>
          <a:p>
            <a:pPr algn="l" marL="342900" indent="-342900">
              <a:spcAft>
                <a:spcPts val="300"/>
              </a:spcAft>
              <a:buSzPct val="100000"/>
              <a:buChar char="•"/>
            </a:pPr>
            <a:r>
              <a:rPr lang="en-US" sz="1400" dirty="0">
                <a:solidFill>
                  <a:schemeClr val="tx1"/>
                </a:solidFill>
              </a:rPr>
              <a:t>Verifying that submitted data is true</a:t>
            </a:r>
            <a:endParaRPr lang="en-US" sz="1400" dirty="0"/>
          </a:p>
          <a:p>
            <a:pPr algn="l" marL="342900" indent="-342900">
              <a:spcAft>
                <a:spcPts val="300"/>
              </a:spcAft>
              <a:buSzPct val="100000"/>
              <a:buChar char="•"/>
            </a:pPr>
            <a:r>
              <a:rPr lang="en-US" sz="1400" dirty="0">
                <a:solidFill>
                  <a:schemeClr val="tx1"/>
                </a:solidFill>
              </a:rPr>
              <a:t>Confidential (encrypted) data storage</a:t>
            </a:r>
            <a:endParaRPr lang="en-US" sz="1400" dirty="0"/>
          </a:p>
          <a:p>
            <a:pPr algn="l" marL="342900" indent="-342900">
              <a:spcAft>
                <a:spcPts val="300"/>
              </a:spcAft>
              <a:buSzPct val="100000"/>
              <a:buChar char="•"/>
            </a:pPr>
            <a:r>
              <a:rPr lang="en-US" sz="1400" dirty="0">
                <a:solidFill>
                  <a:schemeClr val="tx1"/>
                </a:solidFill>
              </a:rPr>
              <a:t>IoT sensors and battery-health data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Why blockchain fits traceability</a:t>
            </a:r>
            <a:endParaRPr lang="en-US" sz="3400" dirty="0"/>
          </a:p>
        </p:txBody>
      </p:sp>
      <p:sp>
        <p:nvSpPr>
          <p:cNvPr id="3" name="prop-0-bg"/>
          <p:cNvSpPr/>
          <p:nvPr/>
        </p:nvSpPr>
        <p:spPr>
          <a:xfrm>
            <a:off x="548640" y="1325880"/>
            <a:ext cx="2587752" cy="2468880"/>
          </a:xfrm>
          <a:prstGeom prst="roundRect">
            <a:avLst>
              <a:gd name="adj" fmla="val 2963"/>
            </a:avLst>
          </a:prstGeom>
          <a:solidFill>
            <a:schemeClr val="bg2"/>
          </a:solidFill>
          <a:ln/>
        </p:spPr>
      </p:sp>
      <p:sp>
        <p:nvSpPr>
          <p:cNvPr id="4" name="prop-0-badge"/>
          <p:cNvSpPr/>
          <p:nvPr/>
        </p:nvSpPr>
        <p:spPr>
          <a:xfrm>
            <a:off x="749808" y="152704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prop-0-title"/>
          <p:cNvSpPr txBox="1"/>
          <p:nvPr/>
        </p:nvSpPr>
        <p:spPr>
          <a:xfrm>
            <a:off x="749808" y="2121408"/>
            <a:ext cx="2240280" cy="347472"/>
          </a:xfrm>
          <a:prstGeom prst="rect">
            <a:avLst/>
          </a:prstGeom>
          <a:noFill/>
          <a:ln/>
        </p:spPr>
        <p:txBody>
          <a:bodyPr wrap="square" lIns="0" tIns="0" rIns="0" bIns="0" rtlCol="0" anchor="t"/>
          <a:lstStyle/>
          <a:p>
            <a:pPr algn="l" indent="0" marL="0">
              <a:buNone/>
            </a:pPr>
            <a:r>
              <a:rPr lang="en-US" sz="1700" b="1" dirty="0">
                <a:solidFill>
                  <a:schemeClr val="tx1"/>
                </a:solidFill>
              </a:rPr>
              <a:t>Shared ledger</a:t>
            </a:r>
            <a:endParaRPr lang="en-US" sz="1700" dirty="0"/>
          </a:p>
        </p:txBody>
      </p:sp>
      <p:sp>
        <p:nvSpPr>
          <p:cNvPr id="6" name="prop-0-body"/>
          <p:cNvSpPr txBox="1"/>
          <p:nvPr/>
        </p:nvSpPr>
        <p:spPr>
          <a:xfrm>
            <a:off x="749808" y="2514600"/>
            <a:ext cx="2240280" cy="1234440"/>
          </a:xfrm>
          <a:prstGeom prst="rect">
            <a:avLst/>
          </a:prstGeom>
          <a:noFill/>
          <a:ln/>
        </p:spPr>
        <p:txBody>
          <a:bodyPr wrap="square" lIns="0" tIns="0" rIns="0" bIns="0" rtlCol="0" anchor="t"/>
          <a:lstStyle/>
          <a:p>
            <a:pPr algn="l" indent="0" marL="0">
              <a:buNone/>
            </a:pPr>
            <a:r>
              <a:rPr lang="en-US" sz="1500" dirty="0">
                <a:solidFill>
                  <a:schemeClr val="tx2"/>
                </a:solidFill>
              </a:rPr>
              <a:t>Every participant reads the same contract state instead of reconciling separate databases.</a:t>
            </a:r>
            <a:endParaRPr lang="en-US" sz="1500" dirty="0"/>
          </a:p>
        </p:txBody>
      </p:sp>
      <p:sp>
        <p:nvSpPr>
          <p:cNvPr id="7" name="prop-1-bg"/>
          <p:cNvSpPr/>
          <p:nvPr/>
        </p:nvSpPr>
        <p:spPr>
          <a:xfrm>
            <a:off x="3383280" y="1325880"/>
            <a:ext cx="2587752" cy="2468880"/>
          </a:xfrm>
          <a:prstGeom prst="roundRect">
            <a:avLst>
              <a:gd name="adj" fmla="val 2963"/>
            </a:avLst>
          </a:prstGeom>
          <a:solidFill>
            <a:schemeClr val="bg2"/>
          </a:solidFill>
          <a:ln/>
        </p:spPr>
      </p:sp>
      <p:sp>
        <p:nvSpPr>
          <p:cNvPr id="8" name="prop-1-badge"/>
          <p:cNvSpPr/>
          <p:nvPr/>
        </p:nvSpPr>
        <p:spPr>
          <a:xfrm>
            <a:off x="3584448" y="152704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prop-1-title"/>
          <p:cNvSpPr txBox="1"/>
          <p:nvPr/>
        </p:nvSpPr>
        <p:spPr>
          <a:xfrm>
            <a:off x="3584448" y="2121408"/>
            <a:ext cx="2240280" cy="347472"/>
          </a:xfrm>
          <a:prstGeom prst="rect">
            <a:avLst/>
          </a:prstGeom>
          <a:noFill/>
          <a:ln/>
        </p:spPr>
        <p:txBody>
          <a:bodyPr wrap="square" lIns="0" tIns="0" rIns="0" bIns="0" rtlCol="0" anchor="t"/>
          <a:lstStyle/>
          <a:p>
            <a:pPr algn="l" indent="0" marL="0">
              <a:buNone/>
            </a:pPr>
            <a:r>
              <a:rPr lang="en-US" sz="1700" b="1" dirty="0">
                <a:solidFill>
                  <a:schemeClr val="tx1"/>
                </a:solidFill>
              </a:rPr>
              <a:t>Append-only history</a:t>
            </a:r>
            <a:endParaRPr lang="en-US" sz="1700" dirty="0"/>
          </a:p>
        </p:txBody>
      </p:sp>
      <p:sp>
        <p:nvSpPr>
          <p:cNvPr id="10" name="prop-1-body"/>
          <p:cNvSpPr txBox="1"/>
          <p:nvPr/>
        </p:nvSpPr>
        <p:spPr>
          <a:xfrm>
            <a:off x="3584448" y="2514600"/>
            <a:ext cx="2240280" cy="1234440"/>
          </a:xfrm>
          <a:prstGeom prst="rect">
            <a:avLst/>
          </a:prstGeom>
          <a:noFill/>
          <a:ln/>
        </p:spPr>
        <p:txBody>
          <a:bodyPr wrap="square" lIns="0" tIns="0" rIns="0" bIns="0" rtlCol="0" anchor="t"/>
          <a:lstStyle/>
          <a:p>
            <a:pPr algn="l" indent="0" marL="0">
              <a:buNone/>
            </a:pPr>
            <a:r>
              <a:rPr lang="en-US" sz="1500" dirty="0">
                <a:solidFill>
                  <a:schemeClr val="tx2"/>
                </a:solidFill>
              </a:rPr>
              <a:t>Records are added by transactions. This contract has no function to edit or delete a recorded stage.</a:t>
            </a:r>
            <a:endParaRPr lang="en-US" sz="1500" dirty="0"/>
          </a:p>
        </p:txBody>
      </p:sp>
      <p:sp>
        <p:nvSpPr>
          <p:cNvPr id="11" name="prop-2-bg"/>
          <p:cNvSpPr/>
          <p:nvPr/>
        </p:nvSpPr>
        <p:spPr>
          <a:xfrm>
            <a:off x="6217920" y="1325880"/>
            <a:ext cx="2587752" cy="2468880"/>
          </a:xfrm>
          <a:prstGeom prst="roundRect">
            <a:avLst>
              <a:gd name="adj" fmla="val 2963"/>
            </a:avLst>
          </a:prstGeom>
          <a:solidFill>
            <a:schemeClr val="bg2"/>
          </a:solidFill>
          <a:ln/>
        </p:spPr>
      </p:sp>
      <p:sp>
        <p:nvSpPr>
          <p:cNvPr id="12" name="prop-2-badge"/>
          <p:cNvSpPr/>
          <p:nvPr/>
        </p:nvSpPr>
        <p:spPr>
          <a:xfrm>
            <a:off x="6419088" y="152704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prop-2-title"/>
          <p:cNvSpPr txBox="1"/>
          <p:nvPr/>
        </p:nvSpPr>
        <p:spPr>
          <a:xfrm>
            <a:off x="6419088" y="2121408"/>
            <a:ext cx="2240280" cy="347472"/>
          </a:xfrm>
          <a:prstGeom prst="rect">
            <a:avLst/>
          </a:prstGeom>
          <a:noFill/>
          <a:ln/>
        </p:spPr>
        <p:txBody>
          <a:bodyPr wrap="square" lIns="0" tIns="0" rIns="0" bIns="0" rtlCol="0" anchor="t"/>
          <a:lstStyle/>
          <a:p>
            <a:pPr algn="l" indent="0" marL="0">
              <a:buNone/>
            </a:pPr>
            <a:r>
              <a:rPr lang="en-US" sz="1700" b="1" dirty="0">
                <a:solidFill>
                  <a:schemeClr val="tx1"/>
                </a:solidFill>
              </a:rPr>
              <a:t>Signed by the writer</a:t>
            </a:r>
            <a:endParaRPr lang="en-US" sz="1700" dirty="0"/>
          </a:p>
        </p:txBody>
      </p:sp>
      <p:sp>
        <p:nvSpPr>
          <p:cNvPr id="14" name="prop-2-body"/>
          <p:cNvSpPr txBox="1"/>
          <p:nvPr/>
        </p:nvSpPr>
        <p:spPr>
          <a:xfrm>
            <a:off x="6419088" y="2514600"/>
            <a:ext cx="2240280" cy="1234440"/>
          </a:xfrm>
          <a:prstGeom prst="rect">
            <a:avLst/>
          </a:prstGeom>
          <a:noFill/>
          <a:ln/>
        </p:spPr>
        <p:txBody>
          <a:bodyPr wrap="square" lIns="0" tIns="0" rIns="0" bIns="0" rtlCol="0" anchor="t"/>
          <a:lstStyle/>
          <a:p>
            <a:pPr algn="l" indent="0" marL="0">
              <a:buNone/>
            </a:pPr>
            <a:r>
              <a:rPr lang="en-US" sz="1500" dirty="0">
                <a:solidFill>
                  <a:schemeClr val="tx2"/>
                </a:solidFill>
              </a:rPr>
              <a:t>Each transaction is signed with the sender’s private key, so every record is tied to an account address.</a:t>
            </a:r>
            <a:endParaRPr lang="en-US" sz="1500" dirty="0"/>
          </a:p>
        </p:txBody>
      </p:sp>
      <p:sp>
        <p:nvSpPr>
          <p:cNvPr id="15" name="prop-3-bg"/>
          <p:cNvSpPr/>
          <p:nvPr/>
        </p:nvSpPr>
        <p:spPr>
          <a:xfrm>
            <a:off x="9052560" y="1325880"/>
            <a:ext cx="2587752" cy="2468880"/>
          </a:xfrm>
          <a:prstGeom prst="roundRect">
            <a:avLst>
              <a:gd name="adj" fmla="val 2963"/>
            </a:avLst>
          </a:prstGeom>
          <a:solidFill>
            <a:schemeClr val="bg2"/>
          </a:solidFill>
          <a:ln/>
        </p:spPr>
      </p:sp>
      <p:sp>
        <p:nvSpPr>
          <p:cNvPr id="16" name="prop-3-badge"/>
          <p:cNvSpPr/>
          <p:nvPr/>
        </p:nvSpPr>
        <p:spPr>
          <a:xfrm>
            <a:off x="9253728" y="152704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prop-3-title"/>
          <p:cNvSpPr txBox="1"/>
          <p:nvPr/>
        </p:nvSpPr>
        <p:spPr>
          <a:xfrm>
            <a:off x="9253728" y="2121408"/>
            <a:ext cx="2240280" cy="347472"/>
          </a:xfrm>
          <a:prstGeom prst="rect">
            <a:avLst/>
          </a:prstGeom>
          <a:noFill/>
          <a:ln/>
        </p:spPr>
        <p:txBody>
          <a:bodyPr wrap="square" lIns="0" tIns="0" rIns="0" bIns="0" rtlCol="0" anchor="t"/>
          <a:lstStyle/>
          <a:p>
            <a:pPr algn="l" indent="0" marL="0">
              <a:buNone/>
            </a:pPr>
            <a:r>
              <a:rPr lang="en-US" sz="1700" b="1" dirty="0">
                <a:solidFill>
                  <a:schemeClr val="tx1"/>
                </a:solidFill>
              </a:rPr>
              <a:t>Rules in code</a:t>
            </a:r>
            <a:endParaRPr lang="en-US" sz="1700" dirty="0"/>
          </a:p>
        </p:txBody>
      </p:sp>
      <p:sp>
        <p:nvSpPr>
          <p:cNvPr id="18" name="prop-3-body"/>
          <p:cNvSpPr txBox="1"/>
          <p:nvPr/>
        </p:nvSpPr>
        <p:spPr>
          <a:xfrm>
            <a:off x="9253728" y="2514600"/>
            <a:ext cx="2240280" cy="1234440"/>
          </a:xfrm>
          <a:prstGeom prst="rect">
            <a:avLst/>
          </a:prstGeom>
          <a:noFill/>
          <a:ln/>
        </p:spPr>
        <p:txBody>
          <a:bodyPr wrap="square" lIns="0" tIns="0" rIns="0" bIns="0" rtlCol="0" anchor="t"/>
          <a:lstStyle/>
          <a:p>
            <a:pPr algn="l" indent="0" marL="0">
              <a:buNone/>
            </a:pPr>
            <a:r>
              <a:rPr lang="en-US" sz="1500" dirty="0">
                <a:solidFill>
                  <a:schemeClr val="tx2"/>
                </a:solidFill>
              </a:rPr>
              <a:t>The smart contract enforces who may write and in what order. Invalid calls revert.</a:t>
            </a:r>
            <a:endParaRPr lang="en-US" sz="1500" dirty="0"/>
          </a:p>
        </p:txBody>
      </p:sp>
      <p:sp>
        <p:nvSpPr>
          <p:cNvPr id="19" name="gives-bg"/>
          <p:cNvSpPr/>
          <p:nvPr/>
        </p:nvSpPr>
        <p:spPr>
          <a:xfrm>
            <a:off x="548640" y="4069080"/>
            <a:ext cx="5422392" cy="1828800"/>
          </a:xfrm>
          <a:prstGeom prst="roundRect">
            <a:avLst>
              <a:gd name="adj" fmla="val 4000"/>
            </a:avLst>
          </a:prstGeom>
          <a:solidFill>
            <a:schemeClr val="accent3">
              <a:alpha val="10000"/>
            </a:schemeClr>
          </a:solidFill>
          <a:ln/>
        </p:spPr>
      </p:sp>
      <p:sp>
        <p:nvSpPr>
          <p:cNvPr id="20" name="gives-title"/>
          <p:cNvSpPr txBox="1"/>
          <p:nvPr/>
        </p:nvSpPr>
        <p:spPr>
          <a:xfrm>
            <a:off x="777240" y="4206240"/>
            <a:ext cx="5029200" cy="365760"/>
          </a:xfrm>
          <a:prstGeom prst="rect">
            <a:avLst/>
          </a:prstGeom>
          <a:noFill/>
          <a:ln/>
        </p:spPr>
        <p:txBody>
          <a:bodyPr wrap="square" lIns="0" tIns="0" rIns="0" bIns="0" rtlCol="0" anchor="t"/>
          <a:lstStyle/>
          <a:p>
            <a:pPr algn="l" indent="0" marL="0">
              <a:buNone/>
            </a:pPr>
            <a:r>
              <a:rPr lang="en-US" sz="1700" b="1" dirty="0">
                <a:solidFill>
                  <a:schemeClr val="accent3"/>
                </a:solidFill>
              </a:rPr>
              <a:t>What blockchain provides here</a:t>
            </a:r>
            <a:endParaRPr lang="en-US" sz="1700" dirty="0"/>
          </a:p>
        </p:txBody>
      </p:sp>
      <p:sp>
        <p:nvSpPr>
          <p:cNvPr id="21" name="gives-list"/>
          <p:cNvSpPr txBox="1"/>
          <p:nvPr/>
        </p:nvSpPr>
        <p:spPr>
          <a:xfrm>
            <a:off x="777240" y="4645152"/>
            <a:ext cx="5029200" cy="118872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chemeClr val="tx1"/>
                </a:solidFill>
              </a:rPr>
              <a:t>A tamper-evident audit trail (transactions and events)</a:t>
            </a:r>
            <a:endParaRPr lang="en-US" sz="1500" dirty="0"/>
          </a:p>
          <a:p>
            <a:pPr algn="l" marL="342900" indent="-342900">
              <a:spcAft>
                <a:spcPts val="600"/>
              </a:spcAft>
              <a:buSzPct val="100000"/>
              <a:buChar char="•"/>
            </a:pPr>
            <a:r>
              <a:rPr lang="en-US" sz="1500" dirty="0">
                <a:solidFill>
                  <a:schemeClr val="tx1"/>
                </a:solidFill>
              </a:rPr>
              <a:t>One common source of truth for all participants</a:t>
            </a:r>
            <a:endParaRPr lang="en-US" sz="1500" dirty="0"/>
          </a:p>
          <a:p>
            <a:pPr algn="l" marL="342900" indent="-342900">
              <a:spcAft>
                <a:spcPts val="600"/>
              </a:spcAft>
              <a:buSzPct val="100000"/>
              <a:buChar char="•"/>
            </a:pPr>
            <a:r>
              <a:rPr lang="en-US" sz="1500" dirty="0">
                <a:solidFill>
                  <a:schemeClr val="tx1"/>
                </a:solidFill>
              </a:rPr>
              <a:t>Automatic enforcement of roles and stage order</a:t>
            </a:r>
            <a:endParaRPr lang="en-US" sz="1500" dirty="0"/>
          </a:p>
        </p:txBody>
      </p:sp>
      <p:sp>
        <p:nvSpPr>
          <p:cNvPr id="22" name="not-bg"/>
          <p:cNvSpPr/>
          <p:nvPr/>
        </p:nvSpPr>
        <p:spPr>
          <a:xfrm>
            <a:off x="6217920" y="4069080"/>
            <a:ext cx="5422392" cy="1828800"/>
          </a:xfrm>
          <a:prstGeom prst="roundRect">
            <a:avLst>
              <a:gd name="adj" fmla="val 4000"/>
            </a:avLst>
          </a:prstGeom>
          <a:solidFill>
            <a:schemeClr val="accent5">
              <a:alpha val="8000"/>
            </a:schemeClr>
          </a:solidFill>
          <a:ln/>
        </p:spPr>
      </p:sp>
      <p:sp>
        <p:nvSpPr>
          <p:cNvPr id="23" name="not-title"/>
          <p:cNvSpPr txBox="1"/>
          <p:nvPr/>
        </p:nvSpPr>
        <p:spPr>
          <a:xfrm>
            <a:off x="6446520" y="4206240"/>
            <a:ext cx="5029200" cy="365760"/>
          </a:xfrm>
          <a:prstGeom prst="rect">
            <a:avLst/>
          </a:prstGeom>
          <a:noFill/>
          <a:ln/>
        </p:spPr>
        <p:txBody>
          <a:bodyPr wrap="square" lIns="0" tIns="0" rIns="0" bIns="0" rtlCol="0" anchor="t"/>
          <a:lstStyle/>
          <a:p>
            <a:pPr algn="l" indent="0" marL="0">
              <a:buNone/>
            </a:pPr>
            <a:r>
              <a:rPr lang="en-US" sz="1700" b="1" dirty="0">
                <a:solidFill>
                  <a:schemeClr val="accent5"/>
                </a:solidFill>
              </a:rPr>
              <a:t>What it does not provide</a:t>
            </a:r>
            <a:endParaRPr lang="en-US" sz="1700" dirty="0"/>
          </a:p>
        </p:txBody>
      </p:sp>
      <p:sp>
        <p:nvSpPr>
          <p:cNvPr id="24" name="not-list"/>
          <p:cNvSpPr txBox="1"/>
          <p:nvPr/>
        </p:nvSpPr>
        <p:spPr>
          <a:xfrm>
            <a:off x="6446520" y="4645152"/>
            <a:ext cx="5029200" cy="118872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chemeClr val="tx1"/>
                </a:solidFill>
              </a:rPr>
              <a:t>Proof that submitted data is true (“garbage in, garbage out”)</a:t>
            </a:r>
            <a:endParaRPr lang="en-US" sz="1500" dirty="0"/>
          </a:p>
          <a:p>
            <a:pPr algn="l" marL="342900" indent="-342900">
              <a:spcAft>
                <a:spcPts val="600"/>
              </a:spcAft>
              <a:buSzPct val="100000"/>
              <a:buChar char="•"/>
            </a:pPr>
            <a:r>
              <a:rPr lang="en-US" sz="1500" dirty="0">
                <a:solidFill>
                  <a:schemeClr val="tx1"/>
                </a:solidFill>
              </a:rPr>
              <a:t>Privacy: on-chain data is readable at node level</a:t>
            </a:r>
            <a:endParaRPr lang="en-US" sz="1500" dirty="0"/>
          </a:p>
          <a:p>
            <a:pPr algn="l" marL="342900" indent="-342900">
              <a:spcAft>
                <a:spcPts val="600"/>
              </a:spcAft>
              <a:buSzPct val="100000"/>
              <a:buChar char="•"/>
            </a:pPr>
            <a:r>
              <a:rPr lang="en-US" sz="1500" dirty="0">
                <a:solidFill>
                  <a:schemeClr val="tx1"/>
                </a:solidFill>
              </a:rPr>
              <a:t>Real-world identity: only an account address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arch-user"/>
          <p:cNvSpPr/>
          <p:nvPr/>
        </p:nvSpPr>
        <p:spPr>
          <a:xfrm>
            <a:off x="548640" y="2286000"/>
            <a:ext cx="1371600" cy="1143000"/>
          </a:xfrm>
          <a:prstGeom prst="roundRect">
            <a:avLst>
              <a:gd name="adj" fmla="val 6400"/>
            </a:avLst>
          </a:prstGeom>
          <a:solidFill>
            <a:schemeClr val="bg2"/>
          </a:solidFill>
          <a:ln w="12700">
            <a:solidFill>
              <a:schemeClr val="accent6"/>
            </a:solidFill>
            <a:prstDash val="solid"/>
          </a:ln>
        </p:spPr>
      </p:sp>
      <p:sp>
        <p:nvSpPr>
          <p:cNvPr id="4" name="arch-user-text"/>
          <p:cNvSpPr txBox="1"/>
          <p:nvPr/>
        </p:nvSpPr>
        <p:spPr>
          <a:xfrm>
            <a:off x="640080" y="2331720"/>
            <a:ext cx="1188720" cy="1051560"/>
          </a:xfrm>
          <a:prstGeom prst="rect">
            <a:avLst/>
          </a:prstGeom>
          <a:noFill/>
          <a:ln/>
        </p:spPr>
        <p:txBody>
          <a:bodyPr wrap="square" lIns="0" tIns="0" rIns="0" bIns="0" rtlCol="0" anchor="ctr"/>
          <a:lstStyle/>
          <a:p>
            <a:pPr algn="ctr" indent="0" marL="0">
              <a:buNone/>
            </a:pPr>
            <a:r>
              <a:rPr lang="en-US" sz="1600" b="1" dirty="0">
                <a:solidFill>
                  <a:schemeClr val="tx1"/>
                </a:solidFill>
              </a:rPr>
              <a:t>User</a:t>
            </a:r>
            <a:endParaRPr lang="en-US" sz="1400" dirty="0"/>
          </a:p>
          <a:p>
            <a:pPr algn="ctr" indent="0" marL="0">
              <a:buNone/>
            </a:pPr>
            <a:r>
              <a:rPr lang="en-US" sz="1100" dirty="0">
                <a:solidFill>
                  <a:schemeClr val="accent6"/>
                </a:solidFill>
              </a:rPr>
              <a:t>browser with MetaMask extension</a:t>
            </a:r>
            <a:endParaRPr lang="en-US" sz="1400" dirty="0"/>
          </a:p>
        </p:txBody>
      </p:sp>
      <p:sp>
        <p:nvSpPr>
          <p:cNvPr id="5" name="arch-react"/>
          <p:cNvSpPr/>
          <p:nvPr/>
        </p:nvSpPr>
        <p:spPr>
          <a:xfrm>
            <a:off x="2331720" y="1234440"/>
            <a:ext cx="2011680" cy="3246120"/>
          </a:xfrm>
          <a:prstGeom prst="roundRect">
            <a:avLst>
              <a:gd name="adj" fmla="val 3636"/>
            </a:avLst>
          </a:prstGeom>
          <a:solidFill>
            <a:schemeClr val="bg2"/>
          </a:solidFill>
          <a:ln w="15875">
            <a:solidFill>
              <a:schemeClr val="accent1"/>
            </a:solidFill>
            <a:prstDash val="solid"/>
          </a:ln>
        </p:spPr>
      </p:sp>
      <p:sp>
        <p:nvSpPr>
          <p:cNvPr id="6" name="arch-react-text"/>
          <p:cNvSpPr txBox="1"/>
          <p:nvPr/>
        </p:nvSpPr>
        <p:spPr>
          <a:xfrm>
            <a:off x="2468880" y="1371600"/>
            <a:ext cx="1783080" cy="2103120"/>
          </a:xfrm>
          <a:prstGeom prst="rect">
            <a:avLst/>
          </a:prstGeom>
          <a:noFill/>
          <a:ln/>
        </p:spPr>
        <p:txBody>
          <a:bodyPr wrap="square" lIns="0" tIns="0" rIns="0" bIns="0" rtlCol="0" anchor="t"/>
          <a:lstStyle/>
          <a:p>
            <a:pPr algn="l" indent="0" marL="0">
              <a:buNone/>
            </a:pPr>
            <a:r>
              <a:rPr lang="en-US" sz="1600" b="1" dirty="0">
                <a:solidFill>
                  <a:schemeClr val="tx1"/>
                </a:solidFill>
              </a:rPr>
              <a:t>React dashboard</a:t>
            </a:r>
            <a:endParaRPr lang="en-US" sz="1400" dirty="0"/>
          </a:p>
          <a:p>
            <a:pPr algn="l" indent="0" marL="0">
              <a:buNone/>
            </a:pPr>
            <a:r>
              <a:rPr lang="en-US" sz="1100" dirty="0">
                <a:solidFill>
                  <a:schemeClr val="accent6"/>
                </a:solidFill>
              </a:rPr>
              <a:t>React 19 · TypeScript · Vite</a:t>
            </a:r>
            <a:endParaRPr lang="en-US" sz="1400" dirty="0"/>
          </a:p>
          <a:p>
            <a:pPr algn="l" indent="0" marL="0">
              <a:buNone/>
            </a:pPr>
            <a:r>
              <a:rPr lang="en-US" sz="800" dirty="0">
                <a:solidFill>
                  <a:schemeClr val="tx1"/>
                </a:solidFill>
              </a:rPr>
              <a:t> </a:t>
            </a:r>
            <a:endParaRPr lang="en-US" sz="1400" dirty="0"/>
          </a:p>
          <a:p>
            <a:pPr algn="l" marL="342900" indent="-342900">
              <a:buSzPct val="100000"/>
              <a:buChar char="•"/>
            </a:pPr>
            <a:r>
              <a:rPr lang="en-US" sz="1200" dirty="0">
                <a:solidFill>
                  <a:schemeClr val="tx1"/>
                </a:solidFill>
              </a:rPr>
              <a:t>Wallet &amp; role panel</a:t>
            </a:r>
            <a:endParaRPr lang="en-US" sz="1400" dirty="0"/>
          </a:p>
          <a:p>
            <a:pPr algn="l" marL="342900" indent="-342900">
              <a:buSzPct val="100000"/>
              <a:buChar char="•"/>
            </a:pPr>
            <a:r>
              <a:rPr lang="en-US" sz="1200" dirty="0">
                <a:solidFill>
                  <a:schemeClr val="tx1"/>
                </a:solidFill>
              </a:rPr>
              <a:t>Passport lookup</a:t>
            </a:r>
            <a:endParaRPr lang="en-US" sz="1400" dirty="0"/>
          </a:p>
          <a:p>
            <a:pPr algn="l" marL="342900" indent="-342900">
              <a:buSzPct val="100000"/>
              <a:buChar char="•"/>
            </a:pPr>
            <a:r>
              <a:rPr lang="en-US" sz="1200" dirty="0">
                <a:solidFill>
                  <a:schemeClr val="tx1"/>
                </a:solidFill>
              </a:rPr>
              <a:t>Role-based forms</a:t>
            </a:r>
            <a:endParaRPr lang="en-US" sz="1400" dirty="0"/>
          </a:p>
          <a:p>
            <a:pPr algn="l" marL="342900" indent="-342900">
              <a:buSzPct val="100000"/>
              <a:buChar char="•"/>
            </a:pPr>
            <a:r>
              <a:rPr lang="en-US" sz="1200" dirty="0">
                <a:solidFill>
                  <a:schemeClr val="tx1"/>
                </a:solidFill>
              </a:rPr>
              <a:t>QR code</a:t>
            </a:r>
            <a:endParaRPr lang="en-US" sz="1400" dirty="0"/>
          </a:p>
        </p:txBody>
      </p:sp>
      <p:sp>
        <p:nvSpPr>
          <p:cNvPr id="7" name="arch-react-import"/>
          <p:cNvSpPr/>
          <p:nvPr/>
        </p:nvSpPr>
        <p:spPr>
          <a:xfrm>
            <a:off x="2468880" y="3611880"/>
            <a:ext cx="1737360" cy="731520"/>
          </a:xfrm>
          <a:prstGeom prst="roundRect">
            <a:avLst>
              <a:gd name="adj" fmla="val 10000"/>
            </a:avLst>
          </a:prstGeom>
          <a:solidFill>
            <a:schemeClr val="bg1"/>
          </a:solidFill>
          <a:ln w="9525">
            <a:solidFill>
              <a:srgbClr val="C9CFD6"/>
            </a:solidFill>
            <a:prstDash val="dash"/>
          </a:ln>
        </p:spPr>
      </p:sp>
      <p:sp>
        <p:nvSpPr>
          <p:cNvPr id="8" name="arch-react-import-text"/>
          <p:cNvSpPr txBox="1"/>
          <p:nvPr/>
        </p:nvSpPr>
        <p:spPr>
          <a:xfrm>
            <a:off x="2514600" y="3630168"/>
            <a:ext cx="1645920" cy="69494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imports contract.ts</a:t>
            </a:r>
            <a:endParaRPr lang="en-US" sz="1400" dirty="0"/>
          </a:p>
          <a:p>
            <a:pPr algn="ctr" indent="0" marL="0">
              <a:buNone/>
            </a:pPr>
            <a:r>
              <a:rPr lang="en-US" sz="1100" dirty="0">
                <a:solidFill>
                  <a:schemeClr val="accent6"/>
                </a:solidFill>
              </a:rPr>
              <a:t>ABI · address · chain ID</a:t>
            </a:r>
            <a:endParaRPr lang="en-US" sz="1400" dirty="0"/>
          </a:p>
        </p:txBody>
      </p:sp>
      <p:sp>
        <p:nvSpPr>
          <p:cNvPr id="9" name="arch-write-label"/>
          <p:cNvSpPr txBox="1"/>
          <p:nvPr/>
        </p:nvSpPr>
        <p:spPr>
          <a:xfrm>
            <a:off x="4800600" y="1234440"/>
            <a:ext cx="4480560" cy="274320"/>
          </a:xfrm>
          <a:prstGeom prst="rect">
            <a:avLst/>
          </a:prstGeom>
          <a:noFill/>
          <a:ln/>
        </p:spPr>
        <p:txBody>
          <a:bodyPr wrap="square" lIns="0" tIns="0" rIns="0" bIns="0" rtlCol="0" anchor="t"/>
          <a:lstStyle/>
          <a:p>
            <a:pPr algn="l" indent="0" marL="0">
              <a:buNone/>
            </a:pPr>
            <a:r>
              <a:rPr lang="en-US" sz="1200" b="1" dirty="0">
                <a:solidFill>
                  <a:schemeClr val="accent1"/>
                </a:solidFill>
              </a:rPr>
              <a:t>WRITE PATH: every change is signed in MetaMask</a:t>
            </a:r>
            <a:endParaRPr lang="en-US" sz="1200" dirty="0"/>
          </a:p>
        </p:txBody>
      </p:sp>
      <p:sp>
        <p:nvSpPr>
          <p:cNvPr id="10" name="arch-read-label"/>
          <p:cNvSpPr txBox="1"/>
          <p:nvPr/>
        </p:nvSpPr>
        <p:spPr>
          <a:xfrm>
            <a:off x="4800600" y="2971800"/>
            <a:ext cx="4480560" cy="274320"/>
          </a:xfrm>
          <a:prstGeom prst="rect">
            <a:avLst/>
          </a:prstGeom>
          <a:noFill/>
          <a:ln/>
        </p:spPr>
        <p:txBody>
          <a:bodyPr wrap="square" lIns="0" tIns="0" rIns="0" bIns="0" rtlCol="0" anchor="t"/>
          <a:lstStyle/>
          <a:p>
            <a:pPr algn="l" indent="0" marL="0">
              <a:buNone/>
            </a:pPr>
            <a:r>
              <a:rPr lang="en-US" sz="1200" b="1" dirty="0">
                <a:solidFill>
                  <a:schemeClr val="accent3"/>
                </a:solidFill>
              </a:rPr>
              <a:t>READ PATH: no wallet, no signature</a:t>
            </a:r>
            <a:endParaRPr lang="en-US" sz="1200" dirty="0"/>
          </a:p>
        </p:txBody>
      </p:sp>
      <p:sp>
        <p:nvSpPr>
          <p:cNvPr id="11" name="arch-wallet"/>
          <p:cNvSpPr/>
          <p:nvPr/>
        </p:nvSpPr>
        <p:spPr>
          <a:xfrm>
            <a:off x="4800600" y="1600200"/>
            <a:ext cx="1874520" cy="914400"/>
          </a:xfrm>
          <a:prstGeom prst="roundRect">
            <a:avLst>
              <a:gd name="adj" fmla="val 8000"/>
            </a:avLst>
          </a:prstGeom>
          <a:solidFill>
            <a:schemeClr val="accent1">
              <a:alpha val="12000"/>
            </a:schemeClr>
          </a:solidFill>
          <a:ln w="12700">
            <a:solidFill>
              <a:schemeClr val="accent1"/>
            </a:solidFill>
            <a:prstDash val="solid"/>
          </a:ln>
        </p:spPr>
      </p:sp>
      <p:sp>
        <p:nvSpPr>
          <p:cNvPr id="12" name="arch-wallet-text"/>
          <p:cNvSpPr txBox="1"/>
          <p:nvPr/>
        </p:nvSpPr>
        <p:spPr>
          <a:xfrm>
            <a:off x="4892040" y="1645920"/>
            <a:ext cx="1691640" cy="822960"/>
          </a:xfrm>
          <a:prstGeom prst="rect">
            <a:avLst/>
          </a:prstGeom>
          <a:noFill/>
          <a:ln/>
        </p:spPr>
        <p:txBody>
          <a:bodyPr wrap="square" lIns="0" tIns="0" rIns="0" bIns="0" rtlCol="0" anchor="ctr"/>
          <a:lstStyle/>
          <a:p>
            <a:pPr algn="ctr" indent="0" marL="0">
              <a:buNone/>
            </a:pPr>
            <a:r>
              <a:rPr lang="en-US" sz="1400" b="1" dirty="0">
                <a:solidFill>
                  <a:schemeClr val="tx1"/>
                </a:solidFill>
              </a:rPr>
              <a:t>viem walletClient</a:t>
            </a:r>
            <a:endParaRPr lang="en-US" sz="1400" dirty="0"/>
          </a:p>
          <a:p>
            <a:pPr algn="ctr" indent="0" marL="0">
              <a:buNone/>
            </a:pPr>
            <a:r>
              <a:rPr lang="en-US" sz="1100" dirty="0">
                <a:solidFill>
                  <a:schemeClr val="tx2"/>
                </a:solidFill>
              </a:rPr>
              <a:t>simulates, then sends the contract call</a:t>
            </a:r>
            <a:endParaRPr lang="en-US" sz="1400" dirty="0"/>
          </a:p>
        </p:txBody>
      </p:sp>
      <p:sp>
        <p:nvSpPr>
          <p:cNvPr id="13" name="arch-metamask"/>
          <p:cNvSpPr/>
          <p:nvPr/>
        </p:nvSpPr>
        <p:spPr>
          <a:xfrm>
            <a:off x="7178040" y="1600200"/>
            <a:ext cx="1691640" cy="914400"/>
          </a:xfrm>
          <a:prstGeom prst="roundRect">
            <a:avLst>
              <a:gd name="adj" fmla="val 8000"/>
            </a:avLst>
          </a:prstGeom>
          <a:solidFill>
            <a:schemeClr val="accent1">
              <a:alpha val="12000"/>
            </a:schemeClr>
          </a:solidFill>
          <a:ln w="12700">
            <a:solidFill>
              <a:schemeClr val="accent1"/>
            </a:solidFill>
            <a:prstDash val="solid"/>
          </a:ln>
        </p:spPr>
      </p:sp>
      <p:sp>
        <p:nvSpPr>
          <p:cNvPr id="14" name="arch-metamask-text"/>
          <p:cNvSpPr txBox="1"/>
          <p:nvPr/>
        </p:nvSpPr>
        <p:spPr>
          <a:xfrm>
            <a:off x="7269480" y="1645920"/>
            <a:ext cx="1508760" cy="822960"/>
          </a:xfrm>
          <a:prstGeom prst="rect">
            <a:avLst/>
          </a:prstGeom>
          <a:noFill/>
          <a:ln/>
        </p:spPr>
        <p:txBody>
          <a:bodyPr wrap="square" lIns="0" tIns="0" rIns="0" bIns="0" rtlCol="0" anchor="ctr"/>
          <a:lstStyle/>
          <a:p>
            <a:pPr algn="ctr" indent="0" marL="0">
              <a:buNone/>
            </a:pPr>
            <a:r>
              <a:rPr lang="en-US" sz="1400" b="1" dirty="0">
                <a:solidFill>
                  <a:schemeClr val="tx1"/>
                </a:solidFill>
              </a:rPr>
              <a:t>MetaMask</a:t>
            </a:r>
            <a:endParaRPr lang="en-US" sz="1400" dirty="0"/>
          </a:p>
          <a:p>
            <a:pPr algn="ctr" indent="0" marL="0">
              <a:buNone/>
            </a:pPr>
            <a:r>
              <a:rPr lang="en-US" sz="1100" dirty="0">
                <a:solidFill>
                  <a:schemeClr val="tx2"/>
                </a:solidFill>
              </a:rPr>
              <a:t>user approves; signs with private key</a:t>
            </a:r>
            <a:endParaRPr lang="en-US" sz="1400" dirty="0"/>
          </a:p>
        </p:txBody>
      </p:sp>
      <p:sp>
        <p:nvSpPr>
          <p:cNvPr id="15" name="arch-public"/>
          <p:cNvSpPr/>
          <p:nvPr/>
        </p:nvSpPr>
        <p:spPr>
          <a:xfrm>
            <a:off x="4800600" y="3291840"/>
            <a:ext cx="1874520" cy="914400"/>
          </a:xfrm>
          <a:prstGeom prst="roundRect">
            <a:avLst>
              <a:gd name="adj" fmla="val 8000"/>
            </a:avLst>
          </a:prstGeom>
          <a:solidFill>
            <a:schemeClr val="accent3">
              <a:alpha val="12000"/>
            </a:schemeClr>
          </a:solidFill>
          <a:ln w="12700">
            <a:solidFill>
              <a:schemeClr val="accent3"/>
            </a:solidFill>
            <a:prstDash val="solid"/>
          </a:ln>
        </p:spPr>
      </p:sp>
      <p:sp>
        <p:nvSpPr>
          <p:cNvPr id="16" name="arch-public-text"/>
          <p:cNvSpPr txBox="1"/>
          <p:nvPr/>
        </p:nvSpPr>
        <p:spPr>
          <a:xfrm>
            <a:off x="4892040" y="3337560"/>
            <a:ext cx="1691640" cy="822960"/>
          </a:xfrm>
          <a:prstGeom prst="rect">
            <a:avLst/>
          </a:prstGeom>
          <a:noFill/>
          <a:ln/>
        </p:spPr>
        <p:txBody>
          <a:bodyPr wrap="square" lIns="0" tIns="0" rIns="0" bIns="0" rtlCol="0" anchor="ctr"/>
          <a:lstStyle/>
          <a:p>
            <a:pPr algn="ctr" indent="0" marL="0">
              <a:buNone/>
            </a:pPr>
            <a:r>
              <a:rPr lang="en-US" sz="1400" b="1" dirty="0">
                <a:solidFill>
                  <a:schemeClr val="tx1"/>
                </a:solidFill>
              </a:rPr>
              <a:t>viem publicClient</a:t>
            </a:r>
            <a:endParaRPr lang="en-US" sz="1400" dirty="0"/>
          </a:p>
          <a:p>
            <a:pPr algn="ctr" indent="0" marL="0">
              <a:buNone/>
            </a:pPr>
            <a:r>
              <a:rPr lang="en-US" sz="1100" dirty="0">
                <a:solidFill>
                  <a:schemeClr val="tx2"/>
                </a:solidFill>
              </a:rPr>
              <a:t>HTTP JSON-RPC</a:t>
            </a:r>
            <a:endParaRPr lang="en-US" sz="1400" dirty="0"/>
          </a:p>
        </p:txBody>
      </p:sp>
      <p:sp>
        <p:nvSpPr>
          <p:cNvPr id="17" name="arch-read-arrow-label"/>
          <p:cNvSpPr txBox="1"/>
          <p:nvPr/>
        </p:nvSpPr>
        <p:spPr>
          <a:xfrm>
            <a:off x="6812280" y="3401568"/>
            <a:ext cx="2468880" cy="274320"/>
          </a:xfrm>
          <a:prstGeom prst="rect">
            <a:avLst/>
          </a:prstGeom>
          <a:noFill/>
          <a:ln/>
        </p:spPr>
        <p:txBody>
          <a:bodyPr wrap="square" lIns="0" tIns="0" rIns="0" bIns="0" rtlCol="0" anchor="t"/>
          <a:lstStyle/>
          <a:p>
            <a:pPr algn="ctr" indent="0" marL="0">
              <a:buNone/>
            </a:pPr>
            <a:r>
              <a:rPr lang="en-US" sz="1100" dirty="0">
                <a:solidFill>
                  <a:schemeClr val="accent3"/>
                </a:solidFill>
              </a:rPr>
              <a:t>eth_call · receipts · events</a:t>
            </a:r>
            <a:endParaRPr lang="en-US" sz="1100" dirty="0"/>
          </a:p>
        </p:txBody>
      </p:sp>
      <p:sp>
        <p:nvSpPr>
          <p:cNvPr id="18" name="arch-node"/>
          <p:cNvSpPr/>
          <p:nvPr/>
        </p:nvSpPr>
        <p:spPr>
          <a:xfrm>
            <a:off x="9372600" y="1234440"/>
            <a:ext cx="2267712" cy="3246120"/>
          </a:xfrm>
          <a:prstGeom prst="roundRect">
            <a:avLst>
              <a:gd name="adj" fmla="val 3226"/>
            </a:avLst>
          </a:prstGeom>
          <a:solidFill>
            <a:schemeClr val="bg2"/>
          </a:solidFill>
          <a:ln w="15875">
            <a:solidFill>
              <a:schemeClr val="tx2"/>
            </a:solidFill>
            <a:prstDash val="solid"/>
          </a:ln>
        </p:spPr>
      </p:sp>
      <p:sp>
        <p:nvSpPr>
          <p:cNvPr id="19" name="arch-node-text"/>
          <p:cNvSpPr txBox="1"/>
          <p:nvPr/>
        </p:nvSpPr>
        <p:spPr>
          <a:xfrm>
            <a:off x="9464040" y="1325880"/>
            <a:ext cx="2084832" cy="685800"/>
          </a:xfrm>
          <a:prstGeom prst="rect">
            <a:avLst/>
          </a:prstGeom>
          <a:noFill/>
          <a:ln/>
        </p:spPr>
        <p:txBody>
          <a:bodyPr wrap="square" lIns="0" tIns="0" rIns="0" bIns="0" rtlCol="0" anchor="t"/>
          <a:lstStyle/>
          <a:p>
            <a:pPr algn="ctr" indent="0" marL="0">
              <a:buNone/>
            </a:pPr>
            <a:r>
              <a:rPr lang="en-US" sz="1400" b="1" dirty="0">
                <a:solidFill>
                  <a:schemeClr val="tx1"/>
                </a:solidFill>
              </a:rPr>
              <a:t>Hardhat local node</a:t>
            </a:r>
            <a:endParaRPr lang="en-US" sz="1400" dirty="0"/>
          </a:p>
          <a:p>
            <a:pPr algn="ctr" indent="0" marL="0">
              <a:buNone/>
            </a:pPr>
            <a:r>
              <a:rPr lang="en-US" sz="1100" dirty="0">
                <a:solidFill>
                  <a:schemeClr val="accent6"/>
                </a:solidFill>
              </a:rPr>
              <a:t>chain ID 31337 · 127.0.0.1:8545</a:t>
            </a:r>
            <a:endParaRPr lang="en-US" sz="1400" dirty="0"/>
          </a:p>
        </p:txBody>
      </p:sp>
      <p:sp>
        <p:nvSpPr>
          <p:cNvPr id="20" name="arch-contract"/>
          <p:cNvSpPr/>
          <p:nvPr/>
        </p:nvSpPr>
        <p:spPr>
          <a:xfrm>
            <a:off x="9555480" y="2148840"/>
            <a:ext cx="1901952" cy="1325880"/>
          </a:xfrm>
          <a:prstGeom prst="roundRect">
            <a:avLst>
              <a:gd name="adj" fmla="val 5517"/>
            </a:avLst>
          </a:prstGeom>
          <a:solidFill>
            <a:schemeClr val="accent1"/>
          </a:solidFill>
          <a:ln/>
        </p:spPr>
      </p:sp>
      <p:sp>
        <p:nvSpPr>
          <p:cNvPr id="21" name="arch-contract-text"/>
          <p:cNvSpPr txBox="1"/>
          <p:nvPr/>
        </p:nvSpPr>
        <p:spPr>
          <a:xfrm>
            <a:off x="9601200" y="2194560"/>
            <a:ext cx="1810512" cy="1234440"/>
          </a:xfrm>
          <a:prstGeom prst="rect">
            <a:avLst/>
          </a:prstGeom>
          <a:noFill/>
          <a:ln/>
        </p:spPr>
        <p:txBody>
          <a:bodyPr wrap="square" lIns="0" tIns="0" rIns="0" bIns="0" rtlCol="0" anchor="ctr"/>
          <a:lstStyle/>
          <a:p>
            <a:pPr algn="ctr" indent="0" marL="0">
              <a:buNone/>
            </a:pPr>
            <a:r>
              <a:rPr lang="en-US" sz="1300" b="1" dirty="0">
                <a:solidFill>
                  <a:schemeClr val="bg1"/>
                </a:solidFill>
              </a:rPr>
              <a:t>BatteryPassport.sol</a:t>
            </a:r>
            <a:endParaRPr lang="en-US" sz="1400" dirty="0"/>
          </a:p>
          <a:p>
            <a:pPr algn="ctr" indent="0" marL="0">
              <a:buNone/>
            </a:pPr>
            <a:r>
              <a:rPr lang="en-US" sz="1100" dirty="0">
                <a:solidFill>
                  <a:schemeClr val="bg1"/>
                </a:solidFill>
              </a:rPr>
              <a:t>roles · lifecycle · events</a:t>
            </a:r>
            <a:endParaRPr lang="en-US" sz="1400" dirty="0"/>
          </a:p>
          <a:p>
            <a:pPr algn="ctr" indent="0" marL="0">
              <a:buNone/>
            </a:pPr>
            <a:r>
              <a:rPr lang="en-US" sz="1100" dirty="0">
                <a:solidFill>
                  <a:schemeClr val="bg1"/>
                </a:solidFill>
                <a:latin typeface="Consolas" pitchFamily="34" charset="0"/>
                <a:ea typeface="Consolas" pitchFamily="34" charset="-122"/>
                <a:cs typeface="Consolas" pitchFamily="34" charset="-120"/>
              </a:rPr>
              <a:t>0x5FbD…0aa3</a:t>
            </a:r>
            <a:endParaRPr lang="en-US" sz="1400" dirty="0"/>
          </a:p>
        </p:txBody>
      </p:sp>
      <p:sp>
        <p:nvSpPr>
          <p:cNvPr id="22" name="arch-node-note"/>
          <p:cNvSpPr txBox="1"/>
          <p:nvPr/>
        </p:nvSpPr>
        <p:spPr>
          <a:xfrm>
            <a:off x="9464040" y="3611880"/>
            <a:ext cx="2084832" cy="777240"/>
          </a:xfrm>
          <a:prstGeom prst="rect">
            <a:avLst/>
          </a:prstGeom>
          <a:noFill/>
          <a:ln/>
        </p:spPr>
        <p:txBody>
          <a:bodyPr wrap="square" lIns="0" tIns="0" rIns="0" bIns="0" rtlCol="0" anchor="t"/>
          <a:lstStyle/>
          <a:p>
            <a:pPr algn="ctr" indent="0" marL="0">
              <a:buNone/>
            </a:pPr>
            <a:r>
              <a:rPr lang="en-US" sz="1100" dirty="0">
                <a:solidFill>
                  <a:schemeClr val="accent6"/>
                </a:solidFill>
              </a:rPr>
              <a:t>Automine: each transaction is mined into its own block</a:t>
            </a:r>
            <a:endParaRPr lang="en-US" sz="1100" dirty="0"/>
          </a:p>
        </p:txBody>
      </p:sp>
      <p:sp>
        <p:nvSpPr>
          <p:cNvPr id="23" name="arch-a1"/>
          <p:cNvSpPr/>
          <p:nvPr/>
        </p:nvSpPr>
        <p:spPr>
          <a:xfrm>
            <a:off x="1920240" y="2852928"/>
            <a:ext cx="411480" cy="0"/>
          </a:xfrm>
          <a:prstGeom prst="line">
            <a:avLst/>
          </a:prstGeom>
          <a:noFill/>
          <a:ln w="22225">
            <a:solidFill>
              <a:schemeClr val="accent6"/>
            </a:solidFill>
            <a:prstDash val="solid"/>
            <a:tailEnd type="triangle"/>
          </a:ln>
        </p:spPr>
      </p:sp>
      <p:sp>
        <p:nvSpPr>
          <p:cNvPr id="24" name="arch-a2"/>
          <p:cNvSpPr/>
          <p:nvPr/>
        </p:nvSpPr>
        <p:spPr>
          <a:xfrm>
            <a:off x="4343400" y="2057400"/>
            <a:ext cx="457200" cy="0"/>
          </a:xfrm>
          <a:prstGeom prst="line">
            <a:avLst/>
          </a:prstGeom>
          <a:noFill/>
          <a:ln w="22225">
            <a:solidFill>
              <a:schemeClr val="accent1"/>
            </a:solidFill>
            <a:prstDash val="solid"/>
            <a:tailEnd type="triangle"/>
          </a:ln>
        </p:spPr>
      </p:sp>
      <p:sp>
        <p:nvSpPr>
          <p:cNvPr id="25" name="arch-a3"/>
          <p:cNvSpPr/>
          <p:nvPr/>
        </p:nvSpPr>
        <p:spPr>
          <a:xfrm>
            <a:off x="6675120" y="2057400"/>
            <a:ext cx="502920" cy="0"/>
          </a:xfrm>
          <a:prstGeom prst="line">
            <a:avLst/>
          </a:prstGeom>
          <a:noFill/>
          <a:ln w="22225">
            <a:solidFill>
              <a:schemeClr val="accent1"/>
            </a:solidFill>
            <a:prstDash val="solid"/>
            <a:tailEnd type="triangle"/>
          </a:ln>
        </p:spPr>
      </p:sp>
      <p:sp>
        <p:nvSpPr>
          <p:cNvPr id="26" name="arch-a4"/>
          <p:cNvSpPr/>
          <p:nvPr/>
        </p:nvSpPr>
        <p:spPr>
          <a:xfrm>
            <a:off x="8869680" y="2057400"/>
            <a:ext cx="502920" cy="0"/>
          </a:xfrm>
          <a:prstGeom prst="line">
            <a:avLst/>
          </a:prstGeom>
          <a:noFill/>
          <a:ln w="22225">
            <a:solidFill>
              <a:schemeClr val="accent1"/>
            </a:solidFill>
            <a:prstDash val="solid"/>
            <a:tailEnd type="triangle"/>
          </a:ln>
        </p:spPr>
      </p:sp>
      <p:sp>
        <p:nvSpPr>
          <p:cNvPr id="27" name="arch-a5"/>
          <p:cNvSpPr/>
          <p:nvPr/>
        </p:nvSpPr>
        <p:spPr>
          <a:xfrm>
            <a:off x="4343400" y="3749040"/>
            <a:ext cx="457200" cy="0"/>
          </a:xfrm>
          <a:prstGeom prst="line">
            <a:avLst/>
          </a:prstGeom>
          <a:noFill/>
          <a:ln w="22225">
            <a:solidFill>
              <a:schemeClr val="accent3"/>
            </a:solidFill>
            <a:prstDash val="solid"/>
            <a:tailEnd type="triangle"/>
          </a:ln>
        </p:spPr>
      </p:sp>
      <p:sp>
        <p:nvSpPr>
          <p:cNvPr id="28" name="arch-a6"/>
          <p:cNvSpPr/>
          <p:nvPr/>
        </p:nvSpPr>
        <p:spPr>
          <a:xfrm>
            <a:off x="6675120" y="3749040"/>
            <a:ext cx="2697480" cy="0"/>
          </a:xfrm>
          <a:prstGeom prst="line">
            <a:avLst/>
          </a:prstGeom>
          <a:noFill/>
          <a:ln w="22225">
            <a:solidFill>
              <a:schemeClr val="accent3"/>
            </a:solidFill>
            <a:prstDash val="solid"/>
            <a:tailEnd type="triangle"/>
          </a:ln>
        </p:spPr>
      </p:sp>
      <p:sp>
        <p:nvSpPr>
          <p:cNvPr id="29" name="arch-build-label"/>
          <p:cNvSpPr txBox="1"/>
          <p:nvPr/>
        </p:nvSpPr>
        <p:spPr>
          <a:xfrm>
            <a:off x="548640" y="4709160"/>
            <a:ext cx="7315200" cy="274320"/>
          </a:xfrm>
          <a:prstGeom prst="rect">
            <a:avLst/>
          </a:prstGeom>
          <a:noFill/>
          <a:ln/>
        </p:spPr>
        <p:txBody>
          <a:bodyPr wrap="square" lIns="0" tIns="0" rIns="0" bIns="0" rtlCol="0" anchor="t"/>
          <a:lstStyle/>
          <a:p>
            <a:pPr algn="l" indent="0" marL="0">
              <a:buNone/>
            </a:pPr>
            <a:r>
              <a:rPr lang="en-US" sz="1200" b="1" dirty="0">
                <a:solidFill>
                  <a:schemeClr val="accent6"/>
                </a:solidFill>
              </a:rPr>
              <a:t>BUILD &amp; DEPLOY: run by the developer before the demo</a:t>
            </a:r>
            <a:endParaRPr lang="en-US" sz="1200" dirty="0"/>
          </a:p>
        </p:txBody>
      </p:sp>
      <p:sp>
        <p:nvSpPr>
          <p:cNvPr id="30" name="arch-chip-0"/>
          <p:cNvSpPr/>
          <p:nvPr/>
        </p:nvSpPr>
        <p:spPr>
          <a:xfrm>
            <a:off x="548640" y="5029200"/>
            <a:ext cx="1947672" cy="713232"/>
          </a:xfrm>
          <a:prstGeom prst="roundRect">
            <a:avLst>
              <a:gd name="adj" fmla="val 10256"/>
            </a:avLst>
          </a:prstGeom>
          <a:solidFill>
            <a:schemeClr val="bg2"/>
          </a:solidFill>
          <a:ln w="9525">
            <a:solidFill>
              <a:srgbClr val="C9CFD6"/>
            </a:solidFill>
            <a:prstDash val="dash"/>
          </a:ln>
        </p:spPr>
      </p:sp>
      <p:sp>
        <p:nvSpPr>
          <p:cNvPr id="31" name="arch-chip-0-text"/>
          <p:cNvSpPr txBox="1"/>
          <p:nvPr/>
        </p:nvSpPr>
        <p:spPr>
          <a:xfrm>
            <a:off x="621792" y="5047488"/>
            <a:ext cx="1801368" cy="676656"/>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BatteryPassport.sol</a:t>
            </a:r>
            <a:endParaRPr lang="en-US" sz="1400" dirty="0"/>
          </a:p>
          <a:p>
            <a:pPr algn="ctr" indent="0" marL="0">
              <a:buNone/>
            </a:pPr>
            <a:r>
              <a:rPr lang="en-US" sz="1100" dirty="0">
                <a:solidFill>
                  <a:schemeClr val="accent6"/>
                </a:solidFill>
              </a:rPr>
              <a:t>Solidity 0.8.34</a:t>
            </a:r>
            <a:endParaRPr lang="en-US" sz="1400" dirty="0"/>
          </a:p>
        </p:txBody>
      </p:sp>
      <p:sp>
        <p:nvSpPr>
          <p:cNvPr id="32" name="arch-chip-arrow-0"/>
          <p:cNvSpPr/>
          <p:nvPr/>
        </p:nvSpPr>
        <p:spPr>
          <a:xfrm>
            <a:off x="2514600" y="5385816"/>
            <a:ext cx="301752" cy="0"/>
          </a:xfrm>
          <a:prstGeom prst="line">
            <a:avLst/>
          </a:prstGeom>
          <a:noFill/>
          <a:ln w="15875">
            <a:solidFill>
              <a:schemeClr val="accent6"/>
            </a:solidFill>
            <a:prstDash val="solid"/>
            <a:tailEnd type="triangle"/>
          </a:ln>
        </p:spPr>
      </p:sp>
      <p:sp>
        <p:nvSpPr>
          <p:cNvPr id="33" name="arch-chip-1"/>
          <p:cNvSpPr/>
          <p:nvPr/>
        </p:nvSpPr>
        <p:spPr>
          <a:xfrm>
            <a:off x="2834640" y="5029200"/>
            <a:ext cx="1947672" cy="713232"/>
          </a:xfrm>
          <a:prstGeom prst="roundRect">
            <a:avLst>
              <a:gd name="adj" fmla="val 10256"/>
            </a:avLst>
          </a:prstGeom>
          <a:solidFill>
            <a:schemeClr val="bg2"/>
          </a:solidFill>
          <a:ln w="9525">
            <a:solidFill>
              <a:srgbClr val="C9CFD6"/>
            </a:solidFill>
            <a:prstDash val="dash"/>
          </a:ln>
        </p:spPr>
      </p:sp>
      <p:sp>
        <p:nvSpPr>
          <p:cNvPr id="34" name="arch-chip-1-text"/>
          <p:cNvSpPr txBox="1"/>
          <p:nvPr/>
        </p:nvSpPr>
        <p:spPr>
          <a:xfrm>
            <a:off x="2907792" y="5047488"/>
            <a:ext cx="1801368" cy="676656"/>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npx hardhat build</a:t>
            </a:r>
            <a:endParaRPr lang="en-US" sz="1400" dirty="0"/>
          </a:p>
          <a:p>
            <a:pPr algn="ctr" indent="0" marL="0">
              <a:buNone/>
            </a:pPr>
            <a:r>
              <a:rPr lang="en-US" sz="1100" dirty="0">
                <a:solidFill>
                  <a:schemeClr val="accent6"/>
                </a:solidFill>
              </a:rPr>
              <a:t>→ ABI artifact</a:t>
            </a:r>
            <a:endParaRPr lang="en-US" sz="1400" dirty="0"/>
          </a:p>
        </p:txBody>
      </p:sp>
      <p:sp>
        <p:nvSpPr>
          <p:cNvPr id="35" name="arch-chip-arrow-1"/>
          <p:cNvSpPr/>
          <p:nvPr/>
        </p:nvSpPr>
        <p:spPr>
          <a:xfrm>
            <a:off x="4800600" y="5385816"/>
            <a:ext cx="301752" cy="0"/>
          </a:xfrm>
          <a:prstGeom prst="line">
            <a:avLst/>
          </a:prstGeom>
          <a:noFill/>
          <a:ln w="15875">
            <a:solidFill>
              <a:schemeClr val="accent6"/>
            </a:solidFill>
            <a:prstDash val="solid"/>
            <a:tailEnd type="triangle"/>
          </a:ln>
        </p:spPr>
      </p:sp>
      <p:sp>
        <p:nvSpPr>
          <p:cNvPr id="36" name="arch-chip-2"/>
          <p:cNvSpPr/>
          <p:nvPr/>
        </p:nvSpPr>
        <p:spPr>
          <a:xfrm>
            <a:off x="5120640" y="5029200"/>
            <a:ext cx="1947672" cy="713232"/>
          </a:xfrm>
          <a:prstGeom prst="roundRect">
            <a:avLst>
              <a:gd name="adj" fmla="val 10256"/>
            </a:avLst>
          </a:prstGeom>
          <a:solidFill>
            <a:schemeClr val="bg2"/>
          </a:solidFill>
          <a:ln w="9525">
            <a:solidFill>
              <a:srgbClr val="C9CFD6"/>
            </a:solidFill>
            <a:prstDash val="dash"/>
          </a:ln>
        </p:spPr>
      </p:sp>
      <p:sp>
        <p:nvSpPr>
          <p:cNvPr id="37" name="arch-chip-2-text"/>
          <p:cNvSpPr txBox="1"/>
          <p:nvPr/>
        </p:nvSpPr>
        <p:spPr>
          <a:xfrm>
            <a:off x="5193792" y="5047488"/>
            <a:ext cx="1801368" cy="676656"/>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scripts/deploy.ts</a:t>
            </a:r>
            <a:endParaRPr lang="en-US" sz="1400" dirty="0"/>
          </a:p>
          <a:p>
            <a:pPr algn="ctr" indent="0" marL="0">
              <a:buNone/>
            </a:pPr>
            <a:r>
              <a:rPr lang="en-US" sz="1100" dirty="0">
                <a:solidFill>
                  <a:schemeClr val="accent6"/>
                </a:solidFill>
              </a:rPr>
              <a:t>→ contract address</a:t>
            </a:r>
            <a:endParaRPr lang="en-US" sz="1400" dirty="0"/>
          </a:p>
        </p:txBody>
      </p:sp>
      <p:sp>
        <p:nvSpPr>
          <p:cNvPr id="38" name="arch-chip-arrow-2"/>
          <p:cNvSpPr/>
          <p:nvPr/>
        </p:nvSpPr>
        <p:spPr>
          <a:xfrm>
            <a:off x="7086600" y="5385816"/>
            <a:ext cx="301752" cy="0"/>
          </a:xfrm>
          <a:prstGeom prst="line">
            <a:avLst/>
          </a:prstGeom>
          <a:noFill/>
          <a:ln w="15875">
            <a:solidFill>
              <a:schemeClr val="accent6"/>
            </a:solidFill>
            <a:prstDash val="solid"/>
            <a:tailEnd type="triangle"/>
          </a:ln>
        </p:spPr>
      </p:sp>
      <p:sp>
        <p:nvSpPr>
          <p:cNvPr id="39" name="arch-chip-3"/>
          <p:cNvSpPr/>
          <p:nvPr/>
        </p:nvSpPr>
        <p:spPr>
          <a:xfrm>
            <a:off x="7406640" y="5029200"/>
            <a:ext cx="1947672" cy="713232"/>
          </a:xfrm>
          <a:prstGeom prst="roundRect">
            <a:avLst>
              <a:gd name="adj" fmla="val 10256"/>
            </a:avLst>
          </a:prstGeom>
          <a:solidFill>
            <a:schemeClr val="bg2"/>
          </a:solidFill>
          <a:ln w="9525">
            <a:solidFill>
              <a:srgbClr val="C9CFD6"/>
            </a:solidFill>
            <a:prstDash val="dash"/>
          </a:ln>
        </p:spPr>
      </p:sp>
      <p:sp>
        <p:nvSpPr>
          <p:cNvPr id="40" name="arch-chip-3-text"/>
          <p:cNvSpPr txBox="1"/>
          <p:nvPr/>
        </p:nvSpPr>
        <p:spPr>
          <a:xfrm>
            <a:off x="7479792" y="5047488"/>
            <a:ext cx="1801368" cy="676656"/>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scripts/</a:t>
            </a:r>
            <a:endParaRPr lang="en-US" sz="1400" dirty="0"/>
          </a:p>
          <a:p>
            <a:pPr algn="ctr" indent="0" marL="0">
              <a:buNone/>
            </a:pPr>
            <a:r>
              <a:rPr lang="en-US" sz="1100" b="1" dirty="0">
                <a:solidFill>
                  <a:schemeClr val="tx1"/>
                </a:solidFill>
                <a:latin typeface="Consolas" pitchFamily="34" charset="0"/>
                <a:ea typeface="Consolas" pitchFamily="34" charset="-122"/>
                <a:cs typeface="Consolas" pitchFamily="34" charset="-120"/>
              </a:rPr>
              <a:t>export-frontend.ts</a:t>
            </a:r>
            <a:endParaRPr lang="en-US" sz="1400" dirty="0"/>
          </a:p>
          <a:p>
            <a:pPr algn="ctr" indent="0" marL="0">
              <a:buNone/>
            </a:pPr>
            <a:r>
              <a:rPr lang="en-US" sz="1100" dirty="0">
                <a:solidFill>
                  <a:schemeClr val="accent6"/>
                </a:solidFill>
              </a:rPr>
              <a:t>copies ABI + address</a:t>
            </a:r>
            <a:endParaRPr lang="en-US" sz="1400" dirty="0"/>
          </a:p>
        </p:txBody>
      </p:sp>
      <p:sp>
        <p:nvSpPr>
          <p:cNvPr id="41" name="arch-chip-arrow-3"/>
          <p:cNvSpPr/>
          <p:nvPr/>
        </p:nvSpPr>
        <p:spPr>
          <a:xfrm>
            <a:off x="9372600" y="5385816"/>
            <a:ext cx="301752" cy="0"/>
          </a:xfrm>
          <a:prstGeom prst="line">
            <a:avLst/>
          </a:prstGeom>
          <a:noFill/>
          <a:ln w="15875">
            <a:solidFill>
              <a:schemeClr val="accent6"/>
            </a:solidFill>
            <a:prstDash val="solid"/>
            <a:tailEnd type="triangle"/>
          </a:ln>
        </p:spPr>
      </p:sp>
      <p:sp>
        <p:nvSpPr>
          <p:cNvPr id="42" name="arch-chip-4"/>
          <p:cNvSpPr/>
          <p:nvPr/>
        </p:nvSpPr>
        <p:spPr>
          <a:xfrm>
            <a:off x="9692640" y="5029200"/>
            <a:ext cx="1947672" cy="713232"/>
          </a:xfrm>
          <a:prstGeom prst="roundRect">
            <a:avLst>
              <a:gd name="adj" fmla="val 10256"/>
            </a:avLst>
          </a:prstGeom>
          <a:solidFill>
            <a:schemeClr val="bg2"/>
          </a:solidFill>
          <a:ln w="9525">
            <a:solidFill>
              <a:srgbClr val="C9CFD6"/>
            </a:solidFill>
            <a:prstDash val="dash"/>
          </a:ln>
        </p:spPr>
      </p:sp>
      <p:sp>
        <p:nvSpPr>
          <p:cNvPr id="43" name="arch-chip-4-text"/>
          <p:cNvSpPr txBox="1"/>
          <p:nvPr/>
        </p:nvSpPr>
        <p:spPr>
          <a:xfrm>
            <a:off x="9765792" y="5047488"/>
            <a:ext cx="1801368" cy="676656"/>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frontend/src/</a:t>
            </a:r>
            <a:endParaRPr lang="en-US" sz="1400" dirty="0"/>
          </a:p>
          <a:p>
            <a:pPr algn="ctr" indent="0" marL="0">
              <a:buNone/>
            </a:pPr>
            <a:r>
              <a:rPr lang="en-US" sz="1100" b="1" dirty="0">
                <a:solidFill>
                  <a:schemeClr val="tx1"/>
                </a:solidFill>
                <a:latin typeface="Consolas" pitchFamily="34" charset="0"/>
                <a:ea typeface="Consolas" pitchFamily="34" charset="-122"/>
                <a:cs typeface="Consolas" pitchFamily="34" charset="-120"/>
              </a:rPr>
              <a:t>contract.ts</a:t>
            </a:r>
            <a:endParaRPr lang="en-US" sz="1400" dirty="0"/>
          </a:p>
          <a:p>
            <a:pPr algn="ctr" indent="0" marL="0">
              <a:buNone/>
            </a:pPr>
            <a:r>
              <a:rPr lang="en-US" sz="1100" dirty="0">
                <a:solidFill>
                  <a:schemeClr val="accent6"/>
                </a:solidFill>
              </a:rPr>
              <a:t>ABI · address · chain ID</a:t>
            </a:r>
            <a:endParaRPr lang="en-US" sz="1400" dirty="0"/>
          </a:p>
        </p:txBody>
      </p:sp>
      <p:sp>
        <p:nvSpPr>
          <p:cNvPr id="44" name="arch-build-note"/>
          <p:cNvSpPr txBox="1"/>
          <p:nvPr/>
        </p:nvSpPr>
        <p:spPr>
          <a:xfrm>
            <a:off x="548640" y="5852160"/>
            <a:ext cx="11091672" cy="274320"/>
          </a:xfrm>
          <a:prstGeom prst="rect">
            <a:avLst/>
          </a:prstGeom>
          <a:noFill/>
          <a:ln/>
        </p:spPr>
        <p:txBody>
          <a:bodyPr wrap="square" lIns="0" tIns="0" rIns="0" bIns="0" rtlCol="0" anchor="t"/>
          <a:lstStyle/>
          <a:p>
            <a:pPr algn="l" indent="0" marL="0">
              <a:buNone/>
            </a:pPr>
            <a:r>
              <a:rPr lang="en-US" sz="1200" i="1" dirty="0">
                <a:solidFill>
                  <a:schemeClr val="accent6"/>
                </a:solidFill>
              </a:rPr>
              <a:t>The dashboard imports contract.ts, so its ABI and address match the deployed contract.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3" name="stack-0-bg"/>
          <p:cNvSpPr/>
          <p:nvPr/>
        </p:nvSpPr>
        <p:spPr>
          <a:xfrm>
            <a:off x="548640" y="1325880"/>
            <a:ext cx="2587752" cy="2103120"/>
          </a:xfrm>
          <a:prstGeom prst="roundRect">
            <a:avLst>
              <a:gd name="adj" fmla="val 3478"/>
            </a:avLst>
          </a:prstGeom>
          <a:solidFill>
            <a:schemeClr val="bg2"/>
          </a:solidFill>
          <a:ln/>
        </p:spPr>
      </p:sp>
      <p:sp>
        <p:nvSpPr>
          <p:cNvPr id="4" name="stack-0-tag"/>
          <p:cNvSpPr txBox="1"/>
          <p:nvPr/>
        </p:nvSpPr>
        <p:spPr>
          <a:xfrm>
            <a:off x="731520" y="1490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SMART CONTRACT</a:t>
            </a:r>
            <a:endParaRPr lang="en-US" sz="1100" dirty="0"/>
          </a:p>
        </p:txBody>
      </p:sp>
      <p:sp>
        <p:nvSpPr>
          <p:cNvPr id="5" name="stack-0-name"/>
          <p:cNvSpPr txBox="1"/>
          <p:nvPr/>
        </p:nvSpPr>
        <p:spPr>
          <a:xfrm>
            <a:off x="731520" y="1764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Solidity 0.8.34</a:t>
            </a:r>
            <a:endParaRPr lang="en-US" sz="1800" dirty="0"/>
          </a:p>
        </p:txBody>
      </p:sp>
      <p:sp>
        <p:nvSpPr>
          <p:cNvPr id="6" name="stack-0-body"/>
          <p:cNvSpPr txBox="1"/>
          <p:nvPr/>
        </p:nvSpPr>
        <p:spPr>
          <a:xfrm>
            <a:off x="731520" y="2194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Language of BatteryPassport.sol: roles, lifecycle rules, storage and events.</a:t>
            </a:r>
            <a:endParaRPr lang="en-US" sz="1400" dirty="0"/>
          </a:p>
        </p:txBody>
      </p:sp>
      <p:sp>
        <p:nvSpPr>
          <p:cNvPr id="7" name="stack-1-bg"/>
          <p:cNvSpPr/>
          <p:nvPr/>
        </p:nvSpPr>
        <p:spPr>
          <a:xfrm>
            <a:off x="3383280" y="1325880"/>
            <a:ext cx="2587752" cy="2103120"/>
          </a:xfrm>
          <a:prstGeom prst="roundRect">
            <a:avLst>
              <a:gd name="adj" fmla="val 3478"/>
            </a:avLst>
          </a:prstGeom>
          <a:solidFill>
            <a:schemeClr val="bg2"/>
          </a:solidFill>
          <a:ln/>
        </p:spPr>
      </p:sp>
      <p:sp>
        <p:nvSpPr>
          <p:cNvPr id="8" name="stack-1-tag"/>
          <p:cNvSpPr txBox="1"/>
          <p:nvPr/>
        </p:nvSpPr>
        <p:spPr>
          <a:xfrm>
            <a:off x="3566160" y="1490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BLOCKCHAIN ENVIRONMENT</a:t>
            </a:r>
            <a:endParaRPr lang="en-US" sz="1100" dirty="0"/>
          </a:p>
        </p:txBody>
      </p:sp>
      <p:sp>
        <p:nvSpPr>
          <p:cNvPr id="9" name="stack-1-name"/>
          <p:cNvSpPr txBox="1"/>
          <p:nvPr/>
        </p:nvSpPr>
        <p:spPr>
          <a:xfrm>
            <a:off x="3566160" y="1764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Hardhat 3.20</a:t>
            </a:r>
            <a:endParaRPr lang="en-US" sz="1800" dirty="0"/>
          </a:p>
        </p:txBody>
      </p:sp>
      <p:sp>
        <p:nvSpPr>
          <p:cNvPr id="10" name="stack-1-body"/>
          <p:cNvSpPr txBox="1"/>
          <p:nvPr/>
        </p:nvSpPr>
        <p:spPr>
          <a:xfrm>
            <a:off x="3566160" y="2194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Compiles the contract, runs the local node (chain 31337), the tests and the deploy, seed and export scripts.</a:t>
            </a:r>
            <a:endParaRPr lang="en-US" sz="1400" dirty="0"/>
          </a:p>
        </p:txBody>
      </p:sp>
      <p:sp>
        <p:nvSpPr>
          <p:cNvPr id="11" name="stack-2-bg"/>
          <p:cNvSpPr/>
          <p:nvPr/>
        </p:nvSpPr>
        <p:spPr>
          <a:xfrm>
            <a:off x="6217920" y="1325880"/>
            <a:ext cx="2587752" cy="2103120"/>
          </a:xfrm>
          <a:prstGeom prst="roundRect">
            <a:avLst>
              <a:gd name="adj" fmla="val 3478"/>
            </a:avLst>
          </a:prstGeom>
          <a:solidFill>
            <a:schemeClr val="bg2"/>
          </a:solidFill>
          <a:ln/>
        </p:spPr>
      </p:sp>
      <p:sp>
        <p:nvSpPr>
          <p:cNvPr id="12" name="stack-2-tag"/>
          <p:cNvSpPr txBox="1"/>
          <p:nvPr/>
        </p:nvSpPr>
        <p:spPr>
          <a:xfrm>
            <a:off x="6400800" y="1490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TESTING</a:t>
            </a:r>
            <a:endParaRPr lang="en-US" sz="1100" dirty="0"/>
          </a:p>
        </p:txBody>
      </p:sp>
      <p:sp>
        <p:nvSpPr>
          <p:cNvPr id="13" name="stack-2-name"/>
          <p:cNvSpPr txBox="1"/>
          <p:nvPr/>
        </p:nvSpPr>
        <p:spPr>
          <a:xfrm>
            <a:off x="6400800" y="1764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forge-std 1.17</a:t>
            </a:r>
            <a:endParaRPr lang="en-US" sz="1800" dirty="0"/>
          </a:p>
        </p:txBody>
      </p:sp>
      <p:sp>
        <p:nvSpPr>
          <p:cNvPr id="14" name="stack-2-body"/>
          <p:cNvSpPr txBox="1"/>
          <p:nvPr/>
        </p:nvSpPr>
        <p:spPr>
          <a:xfrm>
            <a:off x="6400800" y="2194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Solidity test helpers run by Hardhat: vm.prank acts as another account, vm.expectRevert checks errors.</a:t>
            </a:r>
            <a:endParaRPr lang="en-US" sz="1400" dirty="0"/>
          </a:p>
        </p:txBody>
      </p:sp>
      <p:sp>
        <p:nvSpPr>
          <p:cNvPr id="15" name="stack-3-bg"/>
          <p:cNvSpPr/>
          <p:nvPr/>
        </p:nvSpPr>
        <p:spPr>
          <a:xfrm>
            <a:off x="9052560" y="1325880"/>
            <a:ext cx="2587752" cy="2103120"/>
          </a:xfrm>
          <a:prstGeom prst="roundRect">
            <a:avLst>
              <a:gd name="adj" fmla="val 3478"/>
            </a:avLst>
          </a:prstGeom>
          <a:solidFill>
            <a:schemeClr val="bg2"/>
          </a:solidFill>
          <a:ln/>
        </p:spPr>
      </p:sp>
      <p:sp>
        <p:nvSpPr>
          <p:cNvPr id="16" name="stack-3-tag"/>
          <p:cNvSpPr txBox="1"/>
          <p:nvPr/>
        </p:nvSpPr>
        <p:spPr>
          <a:xfrm>
            <a:off x="9235440" y="1490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FRONTEND</a:t>
            </a:r>
            <a:endParaRPr lang="en-US" sz="1100" dirty="0"/>
          </a:p>
        </p:txBody>
      </p:sp>
      <p:sp>
        <p:nvSpPr>
          <p:cNvPr id="17" name="stack-3-name"/>
          <p:cNvSpPr txBox="1"/>
          <p:nvPr/>
        </p:nvSpPr>
        <p:spPr>
          <a:xfrm>
            <a:off x="9235440" y="1764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React 19 + TypeScript</a:t>
            </a:r>
            <a:endParaRPr lang="en-US" sz="1800" dirty="0"/>
          </a:p>
        </p:txBody>
      </p:sp>
      <p:sp>
        <p:nvSpPr>
          <p:cNvPr id="18" name="stack-3-body"/>
          <p:cNvSpPr txBox="1"/>
          <p:nvPr/>
        </p:nvSpPr>
        <p:spPr>
          <a:xfrm>
            <a:off x="9235440" y="2194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One dashboard: wallet panel, passport lookup, role-based forms and audit view.</a:t>
            </a:r>
            <a:endParaRPr lang="en-US" sz="1400" dirty="0"/>
          </a:p>
        </p:txBody>
      </p:sp>
      <p:sp>
        <p:nvSpPr>
          <p:cNvPr id="19" name="stack-4-bg"/>
          <p:cNvSpPr/>
          <p:nvPr/>
        </p:nvSpPr>
        <p:spPr>
          <a:xfrm>
            <a:off x="548640" y="3611880"/>
            <a:ext cx="2587752" cy="2103120"/>
          </a:xfrm>
          <a:prstGeom prst="roundRect">
            <a:avLst>
              <a:gd name="adj" fmla="val 3478"/>
            </a:avLst>
          </a:prstGeom>
          <a:solidFill>
            <a:schemeClr val="bg2"/>
          </a:solidFill>
          <a:ln/>
        </p:spPr>
      </p:sp>
      <p:sp>
        <p:nvSpPr>
          <p:cNvPr id="20" name="stack-4-tag"/>
          <p:cNvSpPr txBox="1"/>
          <p:nvPr/>
        </p:nvSpPr>
        <p:spPr>
          <a:xfrm>
            <a:off x="731520" y="3776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FRONTEND TOOLING</a:t>
            </a:r>
            <a:endParaRPr lang="en-US" sz="1100" dirty="0"/>
          </a:p>
        </p:txBody>
      </p:sp>
      <p:sp>
        <p:nvSpPr>
          <p:cNvPr id="21" name="stack-4-name"/>
          <p:cNvSpPr txBox="1"/>
          <p:nvPr/>
        </p:nvSpPr>
        <p:spPr>
          <a:xfrm>
            <a:off x="731520" y="4050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Vite 8</a:t>
            </a:r>
            <a:endParaRPr lang="en-US" sz="1800" dirty="0"/>
          </a:p>
        </p:txBody>
      </p:sp>
      <p:sp>
        <p:nvSpPr>
          <p:cNvPr id="22" name="stack-4-body"/>
          <p:cNvSpPr txBox="1"/>
          <p:nvPr/>
        </p:nvSpPr>
        <p:spPr>
          <a:xfrm>
            <a:off x="731520" y="4480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Development server at localhost:5173 and the production build of the dashboard.</a:t>
            </a:r>
            <a:endParaRPr lang="en-US" sz="1400" dirty="0"/>
          </a:p>
        </p:txBody>
      </p:sp>
      <p:sp>
        <p:nvSpPr>
          <p:cNvPr id="23" name="stack-5-bg"/>
          <p:cNvSpPr/>
          <p:nvPr/>
        </p:nvSpPr>
        <p:spPr>
          <a:xfrm>
            <a:off x="3383280" y="3611880"/>
            <a:ext cx="2587752" cy="2103120"/>
          </a:xfrm>
          <a:prstGeom prst="roundRect">
            <a:avLst>
              <a:gd name="adj" fmla="val 3478"/>
            </a:avLst>
          </a:prstGeom>
          <a:solidFill>
            <a:schemeClr val="bg2"/>
          </a:solidFill>
          <a:ln/>
        </p:spPr>
      </p:sp>
      <p:sp>
        <p:nvSpPr>
          <p:cNvPr id="24" name="stack-5-tag"/>
          <p:cNvSpPr txBox="1"/>
          <p:nvPr/>
        </p:nvSpPr>
        <p:spPr>
          <a:xfrm>
            <a:off x="3566160" y="3776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BLOCKCHAIN CLIENT</a:t>
            </a:r>
            <a:endParaRPr lang="en-US" sz="1100" dirty="0"/>
          </a:p>
        </p:txBody>
      </p:sp>
      <p:sp>
        <p:nvSpPr>
          <p:cNvPr id="25" name="stack-5-name"/>
          <p:cNvSpPr txBox="1"/>
          <p:nvPr/>
        </p:nvSpPr>
        <p:spPr>
          <a:xfrm>
            <a:off x="3566160" y="4050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viem 2.57</a:t>
            </a:r>
            <a:endParaRPr lang="en-US" sz="1800" dirty="0"/>
          </a:p>
        </p:txBody>
      </p:sp>
      <p:sp>
        <p:nvSpPr>
          <p:cNvPr id="26" name="stack-5-body"/>
          <p:cNvSpPr txBox="1"/>
          <p:nvPr/>
        </p:nvSpPr>
        <p:spPr>
          <a:xfrm>
            <a:off x="3566160" y="4480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Encodes calls from the ABI, reads over RPC, sends writes via MetaMask and waits for receipts.</a:t>
            </a:r>
            <a:endParaRPr lang="en-US" sz="1400" dirty="0"/>
          </a:p>
        </p:txBody>
      </p:sp>
      <p:sp>
        <p:nvSpPr>
          <p:cNvPr id="27" name="stack-6-bg"/>
          <p:cNvSpPr/>
          <p:nvPr/>
        </p:nvSpPr>
        <p:spPr>
          <a:xfrm>
            <a:off x="6217920" y="3611880"/>
            <a:ext cx="2587752" cy="2103120"/>
          </a:xfrm>
          <a:prstGeom prst="roundRect">
            <a:avLst>
              <a:gd name="adj" fmla="val 3478"/>
            </a:avLst>
          </a:prstGeom>
          <a:solidFill>
            <a:schemeClr val="bg2"/>
          </a:solidFill>
          <a:ln/>
        </p:spPr>
      </p:sp>
      <p:sp>
        <p:nvSpPr>
          <p:cNvPr id="28" name="stack-6-tag"/>
          <p:cNvSpPr txBox="1"/>
          <p:nvPr/>
        </p:nvSpPr>
        <p:spPr>
          <a:xfrm>
            <a:off x="6400800" y="3776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WALLET</a:t>
            </a:r>
            <a:endParaRPr lang="en-US" sz="1100" dirty="0"/>
          </a:p>
        </p:txBody>
      </p:sp>
      <p:sp>
        <p:nvSpPr>
          <p:cNvPr id="29" name="stack-6-name"/>
          <p:cNvSpPr txBox="1"/>
          <p:nvPr/>
        </p:nvSpPr>
        <p:spPr>
          <a:xfrm>
            <a:off x="6400800" y="4050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MetaMask</a:t>
            </a:r>
            <a:endParaRPr lang="en-US" sz="1800" dirty="0"/>
          </a:p>
        </p:txBody>
      </p:sp>
      <p:sp>
        <p:nvSpPr>
          <p:cNvPr id="30" name="stack-6-body"/>
          <p:cNvSpPr txBox="1"/>
          <p:nvPr/>
        </p:nvSpPr>
        <p:spPr>
          <a:xfrm>
            <a:off x="6400800" y="4480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Holds the participant’s private key and signs each transaction after the user approves it.</a:t>
            </a:r>
            <a:endParaRPr lang="en-US" sz="1400" dirty="0"/>
          </a:p>
        </p:txBody>
      </p:sp>
      <p:sp>
        <p:nvSpPr>
          <p:cNvPr id="31" name="stack-7-bg"/>
          <p:cNvSpPr/>
          <p:nvPr/>
        </p:nvSpPr>
        <p:spPr>
          <a:xfrm>
            <a:off x="9052560" y="3611880"/>
            <a:ext cx="2587752" cy="2103120"/>
          </a:xfrm>
          <a:prstGeom prst="roundRect">
            <a:avLst>
              <a:gd name="adj" fmla="val 3478"/>
            </a:avLst>
          </a:prstGeom>
          <a:solidFill>
            <a:schemeClr val="bg2"/>
          </a:solidFill>
          <a:ln/>
        </p:spPr>
      </p:sp>
      <p:sp>
        <p:nvSpPr>
          <p:cNvPr id="32" name="stack-7-tag"/>
          <p:cNvSpPr txBox="1"/>
          <p:nvPr/>
        </p:nvSpPr>
        <p:spPr>
          <a:xfrm>
            <a:off x="9235440" y="3776472"/>
            <a:ext cx="2240280" cy="256032"/>
          </a:xfrm>
          <a:prstGeom prst="rect">
            <a:avLst/>
          </a:prstGeom>
          <a:noFill/>
          <a:ln/>
        </p:spPr>
        <p:txBody>
          <a:bodyPr wrap="square" lIns="0" tIns="0" rIns="0" bIns="0" rtlCol="0" anchor="t"/>
          <a:lstStyle/>
          <a:p>
            <a:pPr algn="l" indent="0" marL="0">
              <a:buNone/>
            </a:pPr>
            <a:r>
              <a:rPr lang="en-US" sz="1100" b="1" dirty="0">
                <a:solidFill>
                  <a:schemeClr val="accent1"/>
                </a:solidFill>
              </a:rPr>
              <a:t>QR GENERATION</a:t>
            </a:r>
            <a:endParaRPr lang="en-US" sz="1100" dirty="0"/>
          </a:p>
        </p:txBody>
      </p:sp>
      <p:sp>
        <p:nvSpPr>
          <p:cNvPr id="33" name="stack-7-name"/>
          <p:cNvSpPr txBox="1"/>
          <p:nvPr/>
        </p:nvSpPr>
        <p:spPr>
          <a:xfrm>
            <a:off x="9235440" y="4050792"/>
            <a:ext cx="2240280" cy="384048"/>
          </a:xfrm>
          <a:prstGeom prst="rect">
            <a:avLst/>
          </a:prstGeom>
          <a:noFill/>
          <a:ln/>
        </p:spPr>
        <p:txBody>
          <a:bodyPr wrap="square" lIns="0" tIns="0" rIns="0" bIns="0" rtlCol="0" anchor="t"/>
          <a:lstStyle/>
          <a:p>
            <a:pPr algn="l" indent="0" marL="0">
              <a:buNone/>
            </a:pPr>
            <a:r>
              <a:rPr lang="en-US" sz="1800" b="1" dirty="0">
                <a:solidFill>
                  <a:schemeClr val="tx1"/>
                </a:solidFill>
              </a:rPr>
              <a:t>qrcode.react 4.2</a:t>
            </a:r>
            <a:endParaRPr lang="en-US" sz="1800" dirty="0"/>
          </a:p>
        </p:txBody>
      </p:sp>
      <p:sp>
        <p:nvSpPr>
          <p:cNvPr id="34" name="stack-7-body"/>
          <p:cNvSpPr txBox="1"/>
          <p:nvPr/>
        </p:nvSpPr>
        <p:spPr>
          <a:xfrm>
            <a:off x="9235440" y="4480560"/>
            <a:ext cx="2240280" cy="1188720"/>
          </a:xfrm>
          <a:prstGeom prst="rect">
            <a:avLst/>
          </a:prstGeom>
          <a:noFill/>
          <a:ln/>
        </p:spPr>
        <p:txBody>
          <a:bodyPr wrap="square" lIns="0" tIns="0" rIns="0" bIns="0" rtlCol="0" anchor="t"/>
          <a:lstStyle/>
          <a:p>
            <a:pPr algn="l" indent="0" marL="0">
              <a:buNone/>
            </a:pPr>
            <a:r>
              <a:rPr lang="en-US" sz="1400" dirty="0">
                <a:solidFill>
                  <a:schemeClr val="tx2"/>
                </a:solidFill>
              </a:rPr>
              <a:t>Draws the QR code (SVG) for the public passport URL inside the browser.</a:t>
            </a:r>
            <a:endParaRPr lang="en-US" sz="1400" dirty="0"/>
          </a:p>
        </p:txBody>
      </p:sp>
      <p:sp>
        <p:nvSpPr>
          <p:cNvPr id="35" name="stack-note"/>
          <p:cNvSpPr txBox="1"/>
          <p:nvPr/>
        </p:nvSpPr>
        <p:spPr>
          <a:xfrm>
            <a:off x="548640" y="5943600"/>
            <a:ext cx="11091672" cy="274320"/>
          </a:xfrm>
          <a:prstGeom prst="rect">
            <a:avLst/>
          </a:prstGeom>
          <a:noFill/>
          <a:ln/>
        </p:spPr>
        <p:txBody>
          <a:bodyPr wrap="square" lIns="0" tIns="0" rIns="0" bIns="0" rtlCol="0" anchor="t"/>
          <a:lstStyle/>
          <a:p>
            <a:pPr algn="l" indent="0" marL="0">
              <a:buNone/>
            </a:pPr>
            <a:r>
              <a:rPr lang="en-US" sz="1200" i="1" dirty="0">
                <a:solidFill>
                  <a:schemeClr val="accent6"/>
                </a:solidFill>
              </a:rPr>
              <a:t>All tools are free and run locally. No paid services or real cryptocurrency: Hardhat test accounts hold test ETH only.</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Smart contract design</a:t>
            </a:r>
            <a:endParaRPr lang="en-US" sz="3400" dirty="0"/>
          </a:p>
        </p:txBody>
      </p:sp>
      <p:sp>
        <p:nvSpPr>
          <p:cNvPr id="3" name="model-0-bg"/>
          <p:cNvSpPr/>
          <p:nvPr/>
        </p:nvSpPr>
        <p:spPr>
          <a:xfrm>
            <a:off x="548640" y="1325880"/>
            <a:ext cx="4480560" cy="1051560"/>
          </a:xfrm>
          <a:prstGeom prst="roundRect">
            <a:avLst>
              <a:gd name="adj" fmla="val 6957"/>
            </a:avLst>
          </a:prstGeom>
          <a:solidFill>
            <a:schemeClr val="bg2"/>
          </a:solidFill>
          <a:ln/>
        </p:spPr>
      </p:sp>
      <p:sp>
        <p:nvSpPr>
          <p:cNvPr id="4" name="model-0-label"/>
          <p:cNvSpPr txBox="1"/>
          <p:nvPr/>
        </p:nvSpPr>
        <p:spPr>
          <a:xfrm>
            <a:off x="731520" y="1417320"/>
            <a:ext cx="4114800" cy="274320"/>
          </a:xfrm>
          <a:prstGeom prst="rect">
            <a:avLst/>
          </a:prstGeom>
          <a:noFill/>
          <a:ln/>
        </p:spPr>
        <p:txBody>
          <a:bodyPr wrap="square" lIns="0" tIns="0" rIns="0" bIns="0" rtlCol="0" anchor="t"/>
          <a:lstStyle/>
          <a:p>
            <a:pPr algn="l" indent="0" marL="0">
              <a:buNone/>
            </a:pPr>
            <a:r>
              <a:rPr lang="en-US" sz="1400" b="1" dirty="0">
                <a:solidFill>
                  <a:schemeClr val="accent1"/>
                </a:solidFill>
                <a:latin typeface="Consolas" pitchFamily="34" charset="0"/>
                <a:ea typeface="Consolas" pitchFamily="34" charset="-122"/>
                <a:cs typeface="Consolas" pitchFamily="34" charset="-120"/>
              </a:rPr>
              <a:t>enum Role</a:t>
            </a:r>
            <a:endParaRPr lang="en-US" sz="1400" dirty="0"/>
          </a:p>
        </p:txBody>
      </p:sp>
      <p:sp>
        <p:nvSpPr>
          <p:cNvPr id="5" name="model-0-body"/>
          <p:cNvSpPr txBox="1"/>
          <p:nvPr/>
        </p:nvSpPr>
        <p:spPr>
          <a:xfrm>
            <a:off x="731520" y="1709928"/>
            <a:ext cx="4114800" cy="640080"/>
          </a:xfrm>
          <a:prstGeom prst="rect">
            <a:avLst/>
          </a:prstGeom>
          <a:noFill/>
          <a:ln/>
        </p:spPr>
        <p:txBody>
          <a:bodyPr wrap="square" lIns="0" tIns="0" rIns="0" bIns="0" rtlCol="0" anchor="t"/>
          <a:lstStyle/>
          <a:p>
            <a:pPr algn="l" indent="0" marL="0">
              <a:buNone/>
            </a:pPr>
            <a:r>
              <a:rPr lang="en-US" sz="1300" dirty="0">
                <a:solidFill>
                  <a:schemeClr val="tx2"/>
                </a:solidFill>
              </a:rPr>
              <a:t>None · Admin · Supplier · Manufacturer · Regulator · Customer</a:t>
            </a:r>
            <a:endParaRPr lang="en-US" sz="1300" dirty="0"/>
          </a:p>
        </p:txBody>
      </p:sp>
      <p:sp>
        <p:nvSpPr>
          <p:cNvPr id="6" name="model-1-bg"/>
          <p:cNvSpPr/>
          <p:nvPr/>
        </p:nvSpPr>
        <p:spPr>
          <a:xfrm>
            <a:off x="548640" y="2514600"/>
            <a:ext cx="4480560" cy="1051560"/>
          </a:xfrm>
          <a:prstGeom prst="roundRect">
            <a:avLst>
              <a:gd name="adj" fmla="val 6957"/>
            </a:avLst>
          </a:prstGeom>
          <a:solidFill>
            <a:schemeClr val="bg2"/>
          </a:solidFill>
          <a:ln/>
        </p:spPr>
      </p:sp>
      <p:sp>
        <p:nvSpPr>
          <p:cNvPr id="7" name="model-1-label"/>
          <p:cNvSpPr txBox="1"/>
          <p:nvPr/>
        </p:nvSpPr>
        <p:spPr>
          <a:xfrm>
            <a:off x="731520" y="2606040"/>
            <a:ext cx="4114800" cy="274320"/>
          </a:xfrm>
          <a:prstGeom prst="rect">
            <a:avLst/>
          </a:prstGeom>
          <a:noFill/>
          <a:ln/>
        </p:spPr>
        <p:txBody>
          <a:bodyPr wrap="square" lIns="0" tIns="0" rIns="0" bIns="0" rtlCol="0" anchor="t"/>
          <a:lstStyle/>
          <a:p>
            <a:pPr algn="l" indent="0" marL="0">
              <a:buNone/>
            </a:pPr>
            <a:r>
              <a:rPr lang="en-US" sz="1400" b="1" dirty="0">
                <a:solidFill>
                  <a:schemeClr val="accent1"/>
                </a:solidFill>
                <a:latin typeface="Consolas" pitchFamily="34" charset="0"/>
                <a:ea typeface="Consolas" pitchFamily="34" charset="-122"/>
                <a:cs typeface="Consolas" pitchFamily="34" charset="-120"/>
              </a:rPr>
              <a:t>enum Stage</a:t>
            </a:r>
            <a:endParaRPr lang="en-US" sz="1400" dirty="0"/>
          </a:p>
        </p:txBody>
      </p:sp>
      <p:sp>
        <p:nvSpPr>
          <p:cNvPr id="8" name="model-1-body"/>
          <p:cNvSpPr txBox="1"/>
          <p:nvPr/>
        </p:nvSpPr>
        <p:spPr>
          <a:xfrm>
            <a:off x="731520" y="2898648"/>
            <a:ext cx="4114800" cy="640080"/>
          </a:xfrm>
          <a:prstGeom prst="rect">
            <a:avLst/>
          </a:prstGeom>
          <a:noFill/>
          <a:ln/>
        </p:spPr>
        <p:txBody>
          <a:bodyPr wrap="square" lIns="0" tIns="0" rIns="0" bIns="0" rtlCol="0" anchor="t"/>
          <a:lstStyle/>
          <a:p>
            <a:pPr algn="l" indent="0" marL="0">
              <a:buNone/>
            </a:pPr>
            <a:r>
              <a:rPr lang="en-US" sz="1300" dirty="0">
                <a:solidFill>
                  <a:schemeClr val="tx2"/>
                </a:solidFill>
              </a:rPr>
              <a:t>Unregistered · Registered · Refined · Manufactured · Distributed · EndOfLife · Recycled</a:t>
            </a:r>
            <a:endParaRPr lang="en-US" sz="1300" dirty="0"/>
          </a:p>
        </p:txBody>
      </p:sp>
      <p:sp>
        <p:nvSpPr>
          <p:cNvPr id="9" name="model-2-bg"/>
          <p:cNvSpPr/>
          <p:nvPr/>
        </p:nvSpPr>
        <p:spPr>
          <a:xfrm>
            <a:off x="548640" y="3703320"/>
            <a:ext cx="4480560" cy="1051560"/>
          </a:xfrm>
          <a:prstGeom prst="roundRect">
            <a:avLst>
              <a:gd name="adj" fmla="val 6957"/>
            </a:avLst>
          </a:prstGeom>
          <a:solidFill>
            <a:schemeClr val="bg2"/>
          </a:solidFill>
          <a:ln/>
        </p:spPr>
      </p:sp>
      <p:sp>
        <p:nvSpPr>
          <p:cNvPr id="10" name="model-2-label"/>
          <p:cNvSpPr txBox="1"/>
          <p:nvPr/>
        </p:nvSpPr>
        <p:spPr>
          <a:xfrm>
            <a:off x="731520" y="3794760"/>
            <a:ext cx="4114800" cy="274320"/>
          </a:xfrm>
          <a:prstGeom prst="rect">
            <a:avLst/>
          </a:prstGeom>
          <a:noFill/>
          <a:ln/>
        </p:spPr>
        <p:txBody>
          <a:bodyPr wrap="square" lIns="0" tIns="0" rIns="0" bIns="0" rtlCol="0" anchor="t"/>
          <a:lstStyle/>
          <a:p>
            <a:pPr algn="l" indent="0" marL="0">
              <a:buNone/>
            </a:pPr>
            <a:r>
              <a:rPr lang="en-US" sz="1400" b="1" dirty="0">
                <a:solidFill>
                  <a:schemeClr val="accent1"/>
                </a:solidFill>
                <a:latin typeface="Consolas" pitchFamily="34" charset="0"/>
                <a:ea typeface="Consolas" pitchFamily="34" charset="-122"/>
                <a:cs typeface="Consolas" pitchFamily="34" charset="-120"/>
              </a:rPr>
              <a:t>struct Battery</a:t>
            </a:r>
            <a:endParaRPr lang="en-US" sz="1400" dirty="0"/>
          </a:p>
        </p:txBody>
      </p:sp>
      <p:sp>
        <p:nvSpPr>
          <p:cNvPr id="11" name="model-2-body"/>
          <p:cNvSpPr txBox="1"/>
          <p:nvPr/>
        </p:nvSpPr>
        <p:spPr>
          <a:xfrm>
            <a:off x="731520" y="4087368"/>
            <a:ext cx="4114800" cy="640080"/>
          </a:xfrm>
          <a:prstGeom prst="rect">
            <a:avLst/>
          </a:prstGeom>
          <a:noFill/>
          <a:ln/>
        </p:spPr>
        <p:txBody>
          <a:bodyPr wrap="square" lIns="0" tIns="0" rIns="0" bIns="0" rtlCol="0" anchor="t"/>
          <a:lstStyle/>
          <a:p>
            <a:pPr algn="l" indent="0" marL="0">
              <a:buNone/>
            </a:pPr>
            <a:r>
              <a:rPr lang="en-US" sz="1300" dirty="0">
                <a:solidFill>
                  <a:schemeClr val="tx2"/>
                </a:solidFill>
              </a:rPr>
              <a:t>Origin, refining, manufacturing, distribution and recycling fields, plus registeredBy, registeredAt and currentStage</a:t>
            </a:r>
            <a:endParaRPr lang="en-US" sz="1300" dirty="0"/>
          </a:p>
        </p:txBody>
      </p:sp>
      <p:sp>
        <p:nvSpPr>
          <p:cNvPr id="12" name="model-3-bg"/>
          <p:cNvSpPr/>
          <p:nvPr/>
        </p:nvSpPr>
        <p:spPr>
          <a:xfrm>
            <a:off x="548640" y="4892040"/>
            <a:ext cx="4480560" cy="1051560"/>
          </a:xfrm>
          <a:prstGeom prst="roundRect">
            <a:avLst>
              <a:gd name="adj" fmla="val 6957"/>
            </a:avLst>
          </a:prstGeom>
          <a:solidFill>
            <a:schemeClr val="bg2"/>
          </a:solidFill>
          <a:ln/>
        </p:spPr>
      </p:sp>
      <p:sp>
        <p:nvSpPr>
          <p:cNvPr id="13" name="model-3-label"/>
          <p:cNvSpPr txBox="1"/>
          <p:nvPr/>
        </p:nvSpPr>
        <p:spPr>
          <a:xfrm>
            <a:off x="731520" y="4983480"/>
            <a:ext cx="4114800" cy="274320"/>
          </a:xfrm>
          <a:prstGeom prst="rect">
            <a:avLst/>
          </a:prstGeom>
          <a:noFill/>
          <a:ln/>
        </p:spPr>
        <p:txBody>
          <a:bodyPr wrap="square" lIns="0" tIns="0" rIns="0" bIns="0" rtlCol="0" anchor="t"/>
          <a:lstStyle/>
          <a:p>
            <a:pPr algn="l" indent="0" marL="0">
              <a:buNone/>
            </a:pPr>
            <a:r>
              <a:rPr lang="en-US" sz="1400" b="1" dirty="0">
                <a:solidFill>
                  <a:schemeClr val="accent1"/>
                </a:solidFill>
                <a:latin typeface="Consolas" pitchFamily="34" charset="0"/>
                <a:ea typeface="Consolas" pitchFamily="34" charset="-122"/>
                <a:cs typeface="Consolas" pitchFamily="34" charset="-120"/>
              </a:rPr>
              <a:t>Storage</a:t>
            </a:r>
            <a:endParaRPr lang="en-US" sz="1400" dirty="0"/>
          </a:p>
        </p:txBody>
      </p:sp>
      <p:sp>
        <p:nvSpPr>
          <p:cNvPr id="14" name="model-3-body"/>
          <p:cNvSpPr txBox="1"/>
          <p:nvPr/>
        </p:nvSpPr>
        <p:spPr>
          <a:xfrm>
            <a:off x="731520" y="5276088"/>
            <a:ext cx="4114800" cy="640080"/>
          </a:xfrm>
          <a:prstGeom prst="rect">
            <a:avLst/>
          </a:prstGeom>
          <a:noFill/>
          <a:ln/>
        </p:spPr>
        <p:txBody>
          <a:bodyPr wrap="square" lIns="0" tIns="0" rIns="0" bIns="0" rtlCol="0" anchor="t"/>
          <a:lstStyle/>
          <a:p>
            <a:pPr algn="l" indent="0" marL="0">
              <a:buNone/>
            </a:pPr>
            <a:r>
              <a:rPr lang="en-US" sz="1300" dirty="0">
                <a:solidFill>
                  <a:schemeClr val="tx2"/>
                </a:solidFill>
                <a:latin typeface="Consolas" pitchFamily="34" charset="0"/>
                <a:ea typeface="Consolas" pitchFamily="34" charset="-122"/>
                <a:cs typeface="Consolas" pitchFamily="34" charset="-120"/>
              </a:rPr>
              <a:t>mapping(address ⇒ Role) _roles</a:t>
            </a:r>
            <a:endParaRPr lang="en-US" sz="1300" dirty="0"/>
          </a:p>
          <a:p>
            <a:pPr algn="l" indent="0" marL="0">
              <a:buNone/>
            </a:pPr>
            <a:r>
              <a:rPr lang="en-US" sz="1300" dirty="0">
                <a:solidFill>
                  <a:schemeClr val="tx2"/>
                </a:solidFill>
                <a:latin typeface="Consolas" pitchFamily="34" charset="0"/>
                <a:ea typeface="Consolas" pitchFamily="34" charset="-122"/>
                <a:cs typeface="Consolas" pitchFamily="34" charset="-120"/>
              </a:rPr>
              <a:t>mapping(string ⇒ Battery) _batteries</a:t>
            </a:r>
            <a:endParaRPr lang="en-US" sz="1300" dirty="0"/>
          </a:p>
          <a:p>
            <a:pPr algn="l" indent="0" marL="0">
              <a:buNone/>
            </a:pPr>
            <a:r>
              <a:rPr lang="en-US" sz="1300" dirty="0">
                <a:solidFill>
                  <a:schemeClr val="tx2"/>
                </a:solidFill>
                <a:latin typeface="Consolas" pitchFamily="34" charset="0"/>
                <a:ea typeface="Consolas" pitchFamily="34" charset="-122"/>
                <a:cs typeface="Consolas" pitchFamily="34" charset="-120"/>
              </a:rPr>
              <a:t>string[] _batchIds</a:t>
            </a:r>
            <a:endParaRPr lang="en-US" sz="1300" dirty="0"/>
          </a:p>
        </p:txBody>
      </p:sp>
      <p:graphicFrame>
        <p:nvGraphicFramePr>
          <p:cNvPr id="8" name="functions-table"/>
          <p:cNvGraphicFramePr>
            <a:graphicFrameLocks noGrp="1"/>
          </p:cNvGraphicFramePr>
          <p:nvPr>
            <p:extLst>
              <p:ext uri="{D42A27DB-BD31-4B8C-83A1-F6EECF244321}">
                <p14:modId xmlns:p14="http://schemas.microsoft.com/office/powerpoint/2010/main" val="1579011935"/>
              </p:ext>
            </p:extLst>
          </p:nvPr>
        </p:nvGraphicFramePr>
        <p:xfrm>
          <a:off x="5303520" y="1325880"/>
          <a:ext cx="6336792" cy="914400"/>
        </p:xfrm>
        <a:graphic>
          <a:graphicData uri="http://schemas.openxmlformats.org/drawingml/2006/table">
            <a:tbl>
              <a:tblPr/>
              <a:tblGrid>
                <a:gridCol w="2148840"/>
                <a:gridCol w="1417320"/>
                <a:gridCol w="2770632"/>
              </a:tblGrid>
              <a:tr h="310896">
                <a:tc>
                  <a:txBody>
                    <a:bodyPr/>
                    <a:lstStyle/>
                    <a:p>
                      <a:pPr indent="0" marL="0">
                        <a:buNone/>
                      </a:pPr>
                      <a:r>
                        <a:rPr lang="en-US" sz="1200" b="1" dirty="0">
                          <a:solidFill>
                            <a:schemeClr val="bg1"/>
                          </a:solidFill>
                        </a:rPr>
                        <a:t>Function</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Caller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What it does</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grantRole</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Admin</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Assigns a role to an address</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revokeRole</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Admin</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Resets an address to None</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registerBattery</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Supplier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New batch (must be unique) → Registered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recordRefining</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Supplier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Refining details, recycled % → Refined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recordManufacturing</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Manufacturer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Details, carbon kg, VIN, quality → Manufactured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recordDistribution</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Manufacturer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Distribution details → Distributed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recordEndOfLife</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Supplier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Stage only → EndOfLife</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recordRecycling</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Supplier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Recovered materials → Recycled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getPublicPassport</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Anyone</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Returns the 11 public fields</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getFullPassport</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Admin, Regulator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Returns the full Battery record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getAllBatchIds</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Admin, Regulator</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Lists every registered batch ID</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10896">
                <a:tc>
                  <a:txBody>
                    <a:bodyPr/>
                    <a:lstStyle/>
                    <a:p>
                      <a:pPr indent="0" marL="0">
                        <a:buNone/>
                      </a:pPr>
                      <a:r>
                        <a:rPr lang="en-US" sz="1200" b="1" dirty="0">
                          <a:solidFill>
                            <a:srgbClr val="1F2328"/>
                          </a:solidFill>
                          <a:latin typeface="Consolas" pitchFamily="34" charset="0"/>
                          <a:ea typeface="Consolas" pitchFamily="34" charset="-122"/>
                          <a:cs typeface="Consolas" pitchFamily="34" charset="-120"/>
                        </a:rPr>
                        <a:t>getRole</a:t>
                      </a:r>
                      <a:endParaRPr lang="en-US" sz="1200" dirty="0">
                        <a:latin typeface="Consolas" charset="0"/>
                        <a:ea typeface="Consolas" charset="0"/>
                        <a:cs typeface="Consolas" charset="0"/>
                      </a:endParaRPr>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Anyone</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200" dirty="0">
                          <a:solidFill>
                            <a:srgbClr val="1F2328"/>
                          </a:solidFill>
                        </a:rPr>
                        <a:t>Returns an address’s role</a:t>
                      </a:r>
                      <a:endParaRPr lang="en-US" sz="1200" dirty="0"/>
                    </a:p>
                  </a:txBody>
                  <a:tcPr marL="73152" marR="73152"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bl>
          </a:graphicData>
        </a:graphic>
      </p:graphicFrame>
      <p:sp>
        <p:nvSpPr>
          <p:cNvPr id="16" name="events"/>
          <p:cNvSpPr txBox="1"/>
          <p:nvPr/>
        </p:nvSpPr>
        <p:spPr>
          <a:xfrm>
            <a:off x="5303520" y="5623560"/>
            <a:ext cx="6336792" cy="411480"/>
          </a:xfrm>
          <a:prstGeom prst="rect">
            <a:avLst/>
          </a:prstGeom>
          <a:noFill/>
          <a:ln/>
        </p:spPr>
        <p:txBody>
          <a:bodyPr wrap="square" lIns="0" tIns="0" rIns="0" bIns="0" rtlCol="0" anchor="ctr"/>
          <a:lstStyle/>
          <a:p>
            <a:pPr indent="0" marL="0">
              <a:buNone/>
            </a:pPr>
            <a:r>
              <a:rPr lang="en-US" sz="1300" b="1" dirty="0">
                <a:solidFill>
                  <a:schemeClr val="accent1"/>
                </a:solidFill>
              </a:rPr>
              <a:t>Events (on-chain audit trail): </a:t>
            </a:r>
            <a:pPr indent="0" marL="0">
              <a:buNone/>
            </a:pPr>
            <a:r>
              <a:rPr lang="en-US" sz="1200" dirty="0">
                <a:solidFill>
                  <a:srgbClr val="000000"/>
                </a:solidFill>
                <a:latin typeface="Consolas" pitchFamily="34" charset="0"/>
                <a:ea typeface="Consolas" pitchFamily="34" charset="-122"/>
                <a:cs typeface="Consolas" pitchFamily="34" charset="-120"/>
              </a:rPr>
              <a:t>RoleGranted · RoleRevoked · BatteryRegistered · StageAdvanced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Role-based access control</a:t>
            </a:r>
            <a:endParaRPr lang="en-US" sz="3400" dirty="0"/>
          </a:p>
        </p:txBody>
      </p:sp>
      <p:graphicFrame>
        <p:nvGraphicFramePr>
          <p:cNvPr id="9" name="rbac-tabl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2651760"/>
                <a:gridCol w="914400"/>
                <a:gridCol w="914400"/>
                <a:gridCol w="914400"/>
                <a:gridCol w="914400"/>
                <a:gridCol w="914400"/>
              </a:tblGrid>
              <a:tr h="384048">
                <a:tc>
                  <a:txBody>
                    <a:bodyPr/>
                    <a:lstStyle/>
                    <a:p>
                      <a:pPr indent="0" marL="0">
                        <a:buNone/>
                      </a:pPr>
                      <a:r>
                        <a:rPr lang="en-US" sz="1400" b="1" dirty="0">
                          <a:solidFill>
                            <a:schemeClr val="bg1"/>
                          </a:solidFill>
                        </a:rPr>
                        <a:t>Action</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Admin</a:t>
                      </a:r>
                      <a:endParaRPr lang="en-US" sz="12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Supplier</a:t>
                      </a:r>
                      <a:endParaRPr lang="en-US" sz="12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Manu­facturer</a:t>
                      </a:r>
                      <a:endParaRPr lang="en-US" sz="12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Regulator</a:t>
                      </a:r>
                      <a:endParaRPr lang="en-US" sz="12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Customer</a:t>
                      </a:r>
                      <a:endParaRPr lang="en-US" sz="12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r>
              <a:tr h="384048">
                <a:tc>
                  <a:txBody>
                    <a:bodyPr/>
                    <a:lstStyle/>
                    <a:p>
                      <a:pPr indent="0" marL="0">
                        <a:buNone/>
                      </a:pPr>
                      <a:r>
                        <a:rPr lang="en-US" sz="1400" dirty="0">
                          <a:solidFill>
                            <a:srgbClr val="1F2328"/>
                          </a:solidFill>
                        </a:rPr>
                        <a:t>Grant / revoke roles</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Register battery</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Record refining</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Record manufacturing</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Record distribution</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Record end of life</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Record recycling</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View public passport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384048">
                <a:tc>
                  <a:txBody>
                    <a:bodyPr/>
                    <a:lstStyle/>
                    <a:p>
                      <a:pPr indent="0" marL="0">
                        <a:buNone/>
                      </a:pPr>
                      <a:r>
                        <a:rPr lang="en-US" sz="1400" dirty="0">
                          <a:solidFill>
                            <a:srgbClr val="1F2328"/>
                          </a:solidFill>
                        </a:rPr>
                        <a:t>Full passport, all batch IDs</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b="1" dirty="0">
                          <a:solidFill>
                            <a:schemeClr val="accent3"/>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algn="ctr" indent="0" marL="0">
                        <a:buNone/>
                      </a:pPr>
                      <a:r>
                        <a:rPr lang="en-US" sz="1400" dirty="0">
                          <a:solidFill>
                            <a:schemeClr val="accent6"/>
                          </a:solidFill>
                        </a:rPr>
                        <a:t>—</a:t>
                      </a:r>
                      <a:endParaRPr lang="en-US" sz="1400" dirty="0"/>
                    </a:p>
                  </a:txBody>
                  <a:tcPr marL="91440" marR="91440" marT="27432" marB="27432"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bl>
          </a:graphicData>
        </a:graphic>
      </p:graphicFrame>
      <p:sp>
        <p:nvSpPr>
          <p:cNvPr id="4" name="rbac-note"/>
          <p:cNvSpPr txBox="1"/>
          <p:nvPr/>
        </p:nvSpPr>
        <p:spPr>
          <a:xfrm>
            <a:off x="548640" y="5349240"/>
            <a:ext cx="7223760" cy="548640"/>
          </a:xfrm>
          <a:prstGeom prst="rect">
            <a:avLst/>
          </a:prstGeom>
          <a:noFill/>
          <a:ln/>
        </p:spPr>
        <p:txBody>
          <a:bodyPr wrap="square" lIns="0" tIns="0" rIns="0" bIns="0" rtlCol="0" anchor="t"/>
          <a:lstStyle/>
          <a:p>
            <a:pPr algn="l" indent="0" marL="0">
              <a:buNone/>
            </a:pPr>
            <a:r>
              <a:rPr lang="en-US" sz="1300" i="1" dirty="0">
                <a:solidFill>
                  <a:schemeClr val="accent6"/>
                </a:solidFill>
              </a:rPr>
              <a:t>The public passport needs no role and no wallet. The Customer role is stored on-chain but grants no extra permissions in this prototype.</a:t>
            </a:r>
            <a:endParaRPr lang="en-US" sz="1300" dirty="0"/>
          </a:p>
        </p:txBody>
      </p:sp>
      <p:sp>
        <p:nvSpPr>
          <p:cNvPr id="5" name="rbac-card-0"/>
          <p:cNvSpPr/>
          <p:nvPr/>
        </p:nvSpPr>
        <p:spPr>
          <a:xfrm>
            <a:off x="8092440" y="1325880"/>
            <a:ext cx="3547872" cy="1444752"/>
          </a:xfrm>
          <a:prstGeom prst="roundRect">
            <a:avLst>
              <a:gd name="adj" fmla="val 5063"/>
            </a:avLst>
          </a:prstGeom>
          <a:solidFill>
            <a:schemeClr val="bg2"/>
          </a:solidFill>
          <a:ln/>
        </p:spPr>
      </p:sp>
      <p:sp>
        <p:nvSpPr>
          <p:cNvPr id="6" name="rbac-card-0-title"/>
          <p:cNvSpPr txBox="1"/>
          <p:nvPr/>
        </p:nvSpPr>
        <p:spPr>
          <a:xfrm>
            <a:off x="8275320" y="1435608"/>
            <a:ext cx="3200400" cy="292608"/>
          </a:xfrm>
          <a:prstGeom prst="rect">
            <a:avLst/>
          </a:prstGeom>
          <a:noFill/>
          <a:ln/>
        </p:spPr>
        <p:txBody>
          <a:bodyPr wrap="square" lIns="0" tIns="0" rIns="0" bIns="0" rtlCol="0" anchor="t"/>
          <a:lstStyle/>
          <a:p>
            <a:pPr algn="l" indent="0" marL="0">
              <a:buNone/>
            </a:pPr>
            <a:r>
              <a:rPr lang="en-US" sz="1500" b="1" dirty="0">
                <a:solidFill>
                  <a:schemeClr val="accent1"/>
                </a:solidFill>
              </a:rPr>
              <a:t>Where roles come from</a:t>
            </a:r>
            <a:endParaRPr lang="en-US" sz="1500" dirty="0"/>
          </a:p>
        </p:txBody>
      </p:sp>
      <p:sp>
        <p:nvSpPr>
          <p:cNvPr id="7" name="rbac-card-0-body"/>
          <p:cNvSpPr txBox="1"/>
          <p:nvPr/>
        </p:nvSpPr>
        <p:spPr>
          <a:xfrm>
            <a:off x="8275320" y="1746504"/>
            <a:ext cx="3200400" cy="987552"/>
          </a:xfrm>
          <a:prstGeom prst="rect">
            <a:avLst/>
          </a:prstGeom>
          <a:noFill/>
          <a:ln/>
        </p:spPr>
        <p:txBody>
          <a:bodyPr wrap="square" lIns="0" tIns="0" rIns="0" bIns="0" rtlCol="0" anchor="t"/>
          <a:lstStyle/>
          <a:p>
            <a:pPr algn="l" indent="0" marL="0">
              <a:buNone/>
            </a:pPr>
            <a:r>
              <a:rPr lang="en-US" sz="1300" dirty="0">
                <a:solidFill>
                  <a:schemeClr val="tx2"/>
                </a:solidFill>
              </a:rPr>
              <a:t>The deployer becomes Admin. Admin calls grantRole. The dashboard only reads getRole(connected address); it never assigns roles.</a:t>
            </a:r>
            <a:endParaRPr lang="en-US" sz="1300" dirty="0"/>
          </a:p>
        </p:txBody>
      </p:sp>
      <p:sp>
        <p:nvSpPr>
          <p:cNvPr id="8" name="rbac-card-1"/>
          <p:cNvSpPr/>
          <p:nvPr/>
        </p:nvSpPr>
        <p:spPr>
          <a:xfrm>
            <a:off x="8092440" y="2926080"/>
            <a:ext cx="3547872" cy="1444752"/>
          </a:xfrm>
          <a:prstGeom prst="roundRect">
            <a:avLst>
              <a:gd name="adj" fmla="val 5063"/>
            </a:avLst>
          </a:prstGeom>
          <a:solidFill>
            <a:schemeClr val="bg2"/>
          </a:solidFill>
          <a:ln/>
        </p:spPr>
      </p:sp>
      <p:sp>
        <p:nvSpPr>
          <p:cNvPr id="9" name="rbac-card-1-title"/>
          <p:cNvSpPr txBox="1"/>
          <p:nvPr/>
        </p:nvSpPr>
        <p:spPr>
          <a:xfrm>
            <a:off x="8275320" y="3035808"/>
            <a:ext cx="3200400" cy="292608"/>
          </a:xfrm>
          <a:prstGeom prst="rect">
            <a:avLst/>
          </a:prstGeom>
          <a:noFill/>
          <a:ln/>
        </p:spPr>
        <p:txBody>
          <a:bodyPr wrap="square" lIns="0" tIns="0" rIns="0" bIns="0" rtlCol="0" anchor="t"/>
          <a:lstStyle/>
          <a:p>
            <a:pPr algn="l" indent="0" marL="0">
              <a:buNone/>
            </a:pPr>
            <a:r>
              <a:rPr lang="en-US" sz="1500" b="1" dirty="0">
                <a:solidFill>
                  <a:schemeClr val="accent1"/>
                </a:solidFill>
              </a:rPr>
              <a:t>How they are enforced</a:t>
            </a:r>
            <a:endParaRPr lang="en-US" sz="1500" dirty="0"/>
          </a:p>
        </p:txBody>
      </p:sp>
      <p:sp>
        <p:nvSpPr>
          <p:cNvPr id="10" name="rbac-card-1-body"/>
          <p:cNvSpPr txBox="1"/>
          <p:nvPr/>
        </p:nvSpPr>
        <p:spPr>
          <a:xfrm>
            <a:off x="8275320" y="3346704"/>
            <a:ext cx="3200400" cy="987552"/>
          </a:xfrm>
          <a:prstGeom prst="rect">
            <a:avLst/>
          </a:prstGeom>
          <a:noFill/>
          <a:ln/>
        </p:spPr>
        <p:txBody>
          <a:bodyPr wrap="square" lIns="0" tIns="0" rIns="0" bIns="0" rtlCol="0" anchor="t"/>
          <a:lstStyle/>
          <a:p>
            <a:pPr algn="l" indent="0" marL="0">
              <a:buNone/>
            </a:pPr>
            <a:r>
              <a:rPr lang="en-US" sz="1300" dirty="0">
                <a:solidFill>
                  <a:schemeClr val="tx2"/>
                </a:solidFill>
              </a:rPr>
              <a:t>Modifiers check msg.sender: onlyAdmin, onlySupplier, onlyManufacturer, onlyAdminOrRegulator. Wrong role → revert.</a:t>
            </a:r>
            <a:endParaRPr lang="en-US" sz="1300" dirty="0"/>
          </a:p>
        </p:txBody>
      </p:sp>
      <p:sp>
        <p:nvSpPr>
          <p:cNvPr id="11" name="rbac-card-2"/>
          <p:cNvSpPr/>
          <p:nvPr/>
        </p:nvSpPr>
        <p:spPr>
          <a:xfrm>
            <a:off x="8092440" y="4526280"/>
            <a:ext cx="3547872" cy="1444752"/>
          </a:xfrm>
          <a:prstGeom prst="roundRect">
            <a:avLst>
              <a:gd name="adj" fmla="val 5063"/>
            </a:avLst>
          </a:prstGeom>
          <a:solidFill>
            <a:schemeClr val="accent4">
              <a:alpha val="12000"/>
            </a:schemeClr>
          </a:solidFill>
          <a:ln/>
        </p:spPr>
      </p:sp>
      <p:sp>
        <p:nvSpPr>
          <p:cNvPr id="12" name="rbac-card-2-title"/>
          <p:cNvSpPr txBox="1"/>
          <p:nvPr/>
        </p:nvSpPr>
        <p:spPr>
          <a:xfrm>
            <a:off x="8275320" y="4636008"/>
            <a:ext cx="3200400" cy="292608"/>
          </a:xfrm>
          <a:prstGeom prst="rect">
            <a:avLst/>
          </a:prstGeom>
          <a:noFill/>
          <a:ln/>
        </p:spPr>
        <p:txBody>
          <a:bodyPr wrap="square" lIns="0" tIns="0" rIns="0" bIns="0" rtlCol="0" anchor="t"/>
          <a:lstStyle/>
          <a:p>
            <a:pPr algn="l" indent="0" marL="0">
              <a:buNone/>
            </a:pPr>
            <a:r>
              <a:rPr lang="en-US" sz="1500" b="1" dirty="0">
                <a:solidFill>
                  <a:schemeClr val="accent4"/>
                </a:solidFill>
              </a:rPr>
              <a:t>Access control ≠ confidentiality</a:t>
            </a:r>
            <a:endParaRPr lang="en-US" sz="1500" dirty="0"/>
          </a:p>
        </p:txBody>
      </p:sp>
      <p:sp>
        <p:nvSpPr>
          <p:cNvPr id="13" name="rbac-card-2-body"/>
          <p:cNvSpPr txBox="1"/>
          <p:nvPr/>
        </p:nvSpPr>
        <p:spPr>
          <a:xfrm>
            <a:off x="8275320" y="4946904"/>
            <a:ext cx="3200400" cy="987552"/>
          </a:xfrm>
          <a:prstGeom prst="rect">
            <a:avLst/>
          </a:prstGeom>
          <a:noFill/>
          <a:ln/>
        </p:spPr>
        <p:txBody>
          <a:bodyPr wrap="square" lIns="0" tIns="0" rIns="0" bIns="0" rtlCol="0" anchor="t"/>
          <a:lstStyle/>
          <a:p>
            <a:pPr algn="l" indent="0" marL="0">
              <a:buNone/>
            </a:pPr>
            <a:r>
              <a:rPr lang="en-US" sz="1300" dirty="0">
                <a:solidFill>
                  <a:schemeClr val="tx2"/>
                </a:solidFill>
              </a:rPr>
              <a:t>Role checks limit who can call functions. They do not encrypt storage: all on-chain data is readable at node level.</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Lifecycle state machine</a:t>
            </a:r>
            <a:endParaRPr lang="en-US" sz="3400" dirty="0"/>
          </a:p>
        </p:txBody>
      </p:sp>
      <p:sp>
        <p:nvSpPr>
          <p:cNvPr id="3" name="stage-0"/>
          <p:cNvSpPr/>
          <p:nvPr/>
        </p:nvSpPr>
        <p:spPr>
          <a:xfrm>
            <a:off x="548640" y="1325880"/>
            <a:ext cx="1938528" cy="640080"/>
          </a:xfrm>
          <a:prstGeom prst="homePlate">
            <a:avLst/>
          </a:prstGeom>
          <a:solidFill>
            <a:schemeClr val="accent1"/>
          </a:solidFill>
          <a:ln/>
        </p:spPr>
        <p:txBody>
          <a:bodyPr wrap="square" lIns="0" tIns="0" rIns="0" bIns="0" rtlCol="0" anchor="ctr"/>
          <a:lstStyle/>
          <a:p>
            <a:pPr algn="ctr" indent="0" marL="0">
              <a:buNone/>
            </a:pPr>
            <a:r>
              <a:rPr lang="en-US" sz="1300" b="1" dirty="0">
                <a:solidFill>
                  <a:schemeClr val="bg1"/>
                </a:solidFill>
              </a:rPr>
              <a:t>1  Registered</a:t>
            </a:r>
            <a:endParaRPr lang="en-US" sz="1300" dirty="0"/>
          </a:p>
        </p:txBody>
      </p:sp>
      <p:sp>
        <p:nvSpPr>
          <p:cNvPr id="4" name="stage-1"/>
          <p:cNvSpPr/>
          <p:nvPr/>
        </p:nvSpPr>
        <p:spPr>
          <a:xfrm>
            <a:off x="2377440" y="1325880"/>
            <a:ext cx="1938528" cy="640080"/>
          </a:xfrm>
          <a:prstGeom prst="chevron">
            <a:avLst/>
          </a:prstGeom>
          <a:solidFill>
            <a:schemeClr val="accent1"/>
          </a:solidFill>
          <a:ln/>
        </p:spPr>
        <p:txBody>
          <a:bodyPr wrap="square" lIns="0" tIns="0" rIns="0" bIns="0" rtlCol="0" anchor="ctr"/>
          <a:lstStyle/>
          <a:p>
            <a:pPr algn="ctr" indent="0" marL="0">
              <a:buNone/>
            </a:pPr>
            <a:r>
              <a:rPr lang="en-US" sz="1300" b="1" dirty="0">
                <a:solidFill>
                  <a:schemeClr val="bg1"/>
                </a:solidFill>
              </a:rPr>
              <a:t>2  Refined</a:t>
            </a:r>
            <a:endParaRPr lang="en-US" sz="1300" dirty="0"/>
          </a:p>
        </p:txBody>
      </p:sp>
      <p:sp>
        <p:nvSpPr>
          <p:cNvPr id="5" name="stage-2"/>
          <p:cNvSpPr/>
          <p:nvPr/>
        </p:nvSpPr>
        <p:spPr>
          <a:xfrm>
            <a:off x="4206240" y="1325880"/>
            <a:ext cx="1938528" cy="640080"/>
          </a:xfrm>
          <a:prstGeom prst="chevron">
            <a:avLst/>
          </a:prstGeom>
          <a:solidFill>
            <a:schemeClr val="accent1"/>
          </a:solidFill>
          <a:ln/>
        </p:spPr>
        <p:txBody>
          <a:bodyPr wrap="square" lIns="0" tIns="0" rIns="0" bIns="0" rtlCol="0" anchor="ctr"/>
          <a:lstStyle/>
          <a:p>
            <a:pPr algn="ctr" indent="0" marL="0">
              <a:buNone/>
            </a:pPr>
            <a:r>
              <a:rPr lang="en-US" sz="1300" b="1" dirty="0">
                <a:solidFill>
                  <a:schemeClr val="bg1"/>
                </a:solidFill>
              </a:rPr>
              <a:t>3  Manufactured</a:t>
            </a:r>
            <a:endParaRPr lang="en-US" sz="1300" dirty="0"/>
          </a:p>
        </p:txBody>
      </p:sp>
      <p:sp>
        <p:nvSpPr>
          <p:cNvPr id="6" name="stage-3"/>
          <p:cNvSpPr/>
          <p:nvPr/>
        </p:nvSpPr>
        <p:spPr>
          <a:xfrm>
            <a:off x="6035040" y="1325880"/>
            <a:ext cx="1938528" cy="640080"/>
          </a:xfrm>
          <a:prstGeom prst="chevron">
            <a:avLst/>
          </a:prstGeom>
          <a:solidFill>
            <a:schemeClr val="accent1"/>
          </a:solidFill>
          <a:ln/>
        </p:spPr>
        <p:txBody>
          <a:bodyPr wrap="square" lIns="0" tIns="0" rIns="0" bIns="0" rtlCol="0" anchor="ctr"/>
          <a:lstStyle/>
          <a:p>
            <a:pPr algn="ctr" indent="0" marL="0">
              <a:buNone/>
            </a:pPr>
            <a:r>
              <a:rPr lang="en-US" sz="1300" b="1" dirty="0">
                <a:solidFill>
                  <a:schemeClr val="bg1"/>
                </a:solidFill>
              </a:rPr>
              <a:t>4  Distributed</a:t>
            </a:r>
            <a:endParaRPr lang="en-US" sz="1300" dirty="0"/>
          </a:p>
        </p:txBody>
      </p:sp>
      <p:sp>
        <p:nvSpPr>
          <p:cNvPr id="7" name="stage-4"/>
          <p:cNvSpPr/>
          <p:nvPr/>
        </p:nvSpPr>
        <p:spPr>
          <a:xfrm>
            <a:off x="7863840" y="1325880"/>
            <a:ext cx="1938528" cy="640080"/>
          </a:xfrm>
          <a:prstGeom prst="chevron">
            <a:avLst/>
          </a:prstGeom>
          <a:solidFill>
            <a:schemeClr val="accent1"/>
          </a:solidFill>
          <a:ln/>
        </p:spPr>
        <p:txBody>
          <a:bodyPr wrap="square" lIns="0" tIns="0" rIns="0" bIns="0" rtlCol="0" anchor="ctr"/>
          <a:lstStyle/>
          <a:p>
            <a:pPr algn="ctr" indent="0" marL="0">
              <a:buNone/>
            </a:pPr>
            <a:r>
              <a:rPr lang="en-US" sz="1300" b="1" dirty="0">
                <a:solidFill>
                  <a:schemeClr val="bg1"/>
                </a:solidFill>
              </a:rPr>
              <a:t>5  End of Life</a:t>
            </a:r>
            <a:endParaRPr lang="en-US" sz="1300" dirty="0"/>
          </a:p>
        </p:txBody>
      </p:sp>
      <p:sp>
        <p:nvSpPr>
          <p:cNvPr id="8" name="stage-5"/>
          <p:cNvSpPr/>
          <p:nvPr/>
        </p:nvSpPr>
        <p:spPr>
          <a:xfrm>
            <a:off x="9692640" y="1325880"/>
            <a:ext cx="1938528" cy="640080"/>
          </a:xfrm>
          <a:prstGeom prst="chevron">
            <a:avLst/>
          </a:prstGeom>
          <a:solidFill>
            <a:schemeClr val="accent3"/>
          </a:solidFill>
          <a:ln/>
        </p:spPr>
        <p:txBody>
          <a:bodyPr wrap="square" lIns="0" tIns="0" rIns="0" bIns="0" rtlCol="0" anchor="ctr"/>
          <a:lstStyle/>
          <a:p>
            <a:pPr algn="ctr" indent="0" marL="0">
              <a:buNone/>
            </a:pPr>
            <a:r>
              <a:rPr lang="en-US" sz="1300" b="1" dirty="0">
                <a:solidFill>
                  <a:schemeClr val="bg1"/>
                </a:solidFill>
              </a:rPr>
              <a:t>6  Recycled</a:t>
            </a:r>
            <a:endParaRPr lang="en-US" sz="1300" dirty="0"/>
          </a:p>
        </p:txBody>
      </p:sp>
      <p:sp>
        <p:nvSpPr>
          <p:cNvPr id="9" name="tr-0-bg"/>
          <p:cNvSpPr/>
          <p:nvPr/>
        </p:nvSpPr>
        <p:spPr>
          <a:xfrm>
            <a:off x="548640" y="2240280"/>
            <a:ext cx="6812280" cy="548640"/>
          </a:xfrm>
          <a:prstGeom prst="roundRect">
            <a:avLst>
              <a:gd name="adj" fmla="val 13333"/>
            </a:avLst>
          </a:prstGeom>
          <a:solidFill>
            <a:schemeClr val="bg2"/>
          </a:solidFill>
          <a:ln/>
        </p:spPr>
      </p:sp>
      <p:sp>
        <p:nvSpPr>
          <p:cNvPr id="10" name="tr-0-text"/>
          <p:cNvSpPr txBox="1"/>
          <p:nvPr/>
        </p:nvSpPr>
        <p:spPr>
          <a:xfrm>
            <a:off x="685800" y="2240280"/>
            <a:ext cx="6583680" cy="548640"/>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0 → 1</a:t>
            </a:r>
            <a:pPr indent="0" marL="0">
              <a:buNone/>
            </a:pPr>
            <a:r>
              <a:rPr lang="en-US" sz="1300" dirty="0">
                <a:solidFill>
                  <a:srgbClr val="000000"/>
                </a:solidFill>
              </a:rPr>
              <a:t>   </a:t>
            </a:r>
            <a:pPr indent="0" marL="0">
              <a:buNone/>
            </a:pPr>
            <a:r>
              <a:rPr lang="en-US" sz="1300" b="1" dirty="0">
                <a:solidFill>
                  <a:srgbClr val="000000"/>
                </a:solidFill>
                <a:latin typeface="Consolas" pitchFamily="34" charset="0"/>
                <a:ea typeface="Consolas" pitchFamily="34" charset="-122"/>
                <a:cs typeface="Consolas" pitchFamily="34" charset="-120"/>
              </a:rPr>
              <a:t>registerBattery</a:t>
            </a:r>
            <a:pPr indent="0" marL="0">
              <a:buNone/>
            </a:pPr>
            <a:r>
              <a:rPr lang="en-US" sz="1300" dirty="0">
                <a:solidFill>
                  <a:schemeClr val="accent6"/>
                </a:solidFill>
              </a:rPr>
              <a:t>  (Supplier)</a:t>
            </a:r>
            <a:pPr indent="0" marL="0">
              <a:buNone/>
            </a:pPr>
            <a:r>
              <a:rPr lang="en-US" sz="1300" dirty="0">
                <a:solidFill>
                  <a:schemeClr val="tx2"/>
                </a:solidFill>
              </a:rPr>
              <a:t>: mine location, material origin, timestamp; batch ID must be new</a:t>
            </a:r>
            <a:endParaRPr lang="en-US" sz="1300" dirty="0"/>
          </a:p>
        </p:txBody>
      </p:sp>
      <p:sp>
        <p:nvSpPr>
          <p:cNvPr id="11" name="tr-1-bg"/>
          <p:cNvSpPr/>
          <p:nvPr/>
        </p:nvSpPr>
        <p:spPr>
          <a:xfrm>
            <a:off x="548640" y="2880360"/>
            <a:ext cx="6812280" cy="548640"/>
          </a:xfrm>
          <a:prstGeom prst="roundRect">
            <a:avLst>
              <a:gd name="adj" fmla="val 13333"/>
            </a:avLst>
          </a:prstGeom>
          <a:solidFill>
            <a:schemeClr val="bg2"/>
          </a:solidFill>
          <a:ln/>
        </p:spPr>
      </p:sp>
      <p:sp>
        <p:nvSpPr>
          <p:cNvPr id="12" name="tr-1-text"/>
          <p:cNvSpPr txBox="1"/>
          <p:nvPr/>
        </p:nvSpPr>
        <p:spPr>
          <a:xfrm>
            <a:off x="685800" y="2880360"/>
            <a:ext cx="6583680" cy="548640"/>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1 → 2</a:t>
            </a:r>
            <a:pPr indent="0" marL="0">
              <a:buNone/>
            </a:pPr>
            <a:r>
              <a:rPr lang="en-US" sz="1300" dirty="0">
                <a:solidFill>
                  <a:srgbClr val="000000"/>
                </a:solidFill>
              </a:rPr>
              <a:t>   </a:t>
            </a:r>
            <a:pPr indent="0" marL="0">
              <a:buNone/>
            </a:pPr>
            <a:r>
              <a:rPr lang="en-US" sz="1300" b="1" dirty="0">
                <a:solidFill>
                  <a:srgbClr val="000000"/>
                </a:solidFill>
                <a:latin typeface="Consolas" pitchFamily="34" charset="0"/>
                <a:ea typeface="Consolas" pitchFamily="34" charset="-122"/>
                <a:cs typeface="Consolas" pitchFamily="34" charset="-120"/>
              </a:rPr>
              <a:t>recordRefining</a:t>
            </a:r>
            <a:pPr indent="0" marL="0">
              <a:buNone/>
            </a:pPr>
            <a:r>
              <a:rPr lang="en-US" sz="1300" dirty="0">
                <a:solidFill>
                  <a:schemeClr val="accent6"/>
                </a:solidFill>
              </a:rPr>
              <a:t>  (Supplier)</a:t>
            </a:r>
            <a:pPr indent="0" marL="0">
              <a:buNone/>
            </a:pPr>
            <a:r>
              <a:rPr lang="en-US" sz="1300" dirty="0">
                <a:solidFill>
                  <a:schemeClr val="tx2"/>
                </a:solidFill>
              </a:rPr>
              <a:t>: refining details, recycled content 0–100 %</a:t>
            </a:r>
            <a:endParaRPr lang="en-US" sz="1300" dirty="0"/>
          </a:p>
        </p:txBody>
      </p:sp>
      <p:sp>
        <p:nvSpPr>
          <p:cNvPr id="13" name="tr-2-bg"/>
          <p:cNvSpPr/>
          <p:nvPr/>
        </p:nvSpPr>
        <p:spPr>
          <a:xfrm>
            <a:off x="548640" y="3520440"/>
            <a:ext cx="6812280" cy="548640"/>
          </a:xfrm>
          <a:prstGeom prst="roundRect">
            <a:avLst>
              <a:gd name="adj" fmla="val 13333"/>
            </a:avLst>
          </a:prstGeom>
          <a:solidFill>
            <a:schemeClr val="bg2"/>
          </a:solidFill>
          <a:ln/>
        </p:spPr>
      </p:sp>
      <p:sp>
        <p:nvSpPr>
          <p:cNvPr id="14" name="tr-2-text"/>
          <p:cNvSpPr txBox="1"/>
          <p:nvPr/>
        </p:nvSpPr>
        <p:spPr>
          <a:xfrm>
            <a:off x="685800" y="3520440"/>
            <a:ext cx="6583680" cy="548640"/>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2 → 3</a:t>
            </a:r>
            <a:pPr indent="0" marL="0">
              <a:buNone/>
            </a:pPr>
            <a:r>
              <a:rPr lang="en-US" sz="1300" dirty="0">
                <a:solidFill>
                  <a:srgbClr val="000000"/>
                </a:solidFill>
              </a:rPr>
              <a:t>   </a:t>
            </a:r>
            <a:pPr indent="0" marL="0">
              <a:buNone/>
            </a:pPr>
            <a:r>
              <a:rPr lang="en-US" sz="1300" b="1" dirty="0">
                <a:solidFill>
                  <a:srgbClr val="000000"/>
                </a:solidFill>
                <a:latin typeface="Consolas" pitchFamily="34" charset="0"/>
                <a:ea typeface="Consolas" pitchFamily="34" charset="-122"/>
                <a:cs typeface="Consolas" pitchFamily="34" charset="-120"/>
              </a:rPr>
              <a:t>recordManufacturing</a:t>
            </a:r>
            <a:pPr indent="0" marL="0">
              <a:buNone/>
            </a:pPr>
            <a:r>
              <a:rPr lang="en-US" sz="1300" dirty="0">
                <a:solidFill>
                  <a:schemeClr val="accent6"/>
                </a:solidFill>
              </a:rPr>
              <a:t>  (Manufacturer)</a:t>
            </a:r>
            <a:pPr indent="0" marL="0">
              <a:buNone/>
            </a:pPr>
            <a:r>
              <a:rPr lang="en-US" sz="1300" dirty="0">
                <a:solidFill>
                  <a:schemeClr val="tx2"/>
                </a:solidFill>
              </a:rPr>
              <a:t>: details, carbon footprint &gt; 0 kg, vehicle VIN, quality result</a:t>
            </a:r>
            <a:endParaRPr lang="en-US" sz="1300" dirty="0"/>
          </a:p>
        </p:txBody>
      </p:sp>
      <p:sp>
        <p:nvSpPr>
          <p:cNvPr id="15" name="tr-3-bg"/>
          <p:cNvSpPr/>
          <p:nvPr/>
        </p:nvSpPr>
        <p:spPr>
          <a:xfrm>
            <a:off x="548640" y="4160520"/>
            <a:ext cx="6812280" cy="548640"/>
          </a:xfrm>
          <a:prstGeom prst="roundRect">
            <a:avLst>
              <a:gd name="adj" fmla="val 13333"/>
            </a:avLst>
          </a:prstGeom>
          <a:solidFill>
            <a:schemeClr val="bg2"/>
          </a:solidFill>
          <a:ln/>
        </p:spPr>
      </p:sp>
      <p:sp>
        <p:nvSpPr>
          <p:cNvPr id="16" name="tr-3-text"/>
          <p:cNvSpPr txBox="1"/>
          <p:nvPr/>
        </p:nvSpPr>
        <p:spPr>
          <a:xfrm>
            <a:off x="685800" y="4160520"/>
            <a:ext cx="6583680" cy="548640"/>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3 → 4</a:t>
            </a:r>
            <a:pPr indent="0" marL="0">
              <a:buNone/>
            </a:pPr>
            <a:r>
              <a:rPr lang="en-US" sz="1300" dirty="0">
                <a:solidFill>
                  <a:srgbClr val="000000"/>
                </a:solidFill>
              </a:rPr>
              <a:t>   </a:t>
            </a:r>
            <a:pPr indent="0" marL="0">
              <a:buNone/>
            </a:pPr>
            <a:r>
              <a:rPr lang="en-US" sz="1300" b="1" dirty="0">
                <a:solidFill>
                  <a:srgbClr val="000000"/>
                </a:solidFill>
                <a:latin typeface="Consolas" pitchFamily="34" charset="0"/>
                <a:ea typeface="Consolas" pitchFamily="34" charset="-122"/>
                <a:cs typeface="Consolas" pitchFamily="34" charset="-120"/>
              </a:rPr>
              <a:t>recordDistribution</a:t>
            </a:r>
            <a:pPr indent="0" marL="0">
              <a:buNone/>
            </a:pPr>
            <a:r>
              <a:rPr lang="en-US" sz="1300" dirty="0">
                <a:solidFill>
                  <a:schemeClr val="accent6"/>
                </a:solidFill>
              </a:rPr>
              <a:t>  (Manufacturer)</a:t>
            </a:r>
            <a:pPr indent="0" marL="0">
              <a:buNone/>
            </a:pPr>
            <a:r>
              <a:rPr lang="en-US" sz="1300" dirty="0">
                <a:solidFill>
                  <a:schemeClr val="tx2"/>
                </a:solidFill>
              </a:rPr>
              <a:t>: distribution details</a:t>
            </a:r>
            <a:endParaRPr lang="en-US" sz="1300" dirty="0"/>
          </a:p>
        </p:txBody>
      </p:sp>
      <p:sp>
        <p:nvSpPr>
          <p:cNvPr id="17" name="tr-4-bg"/>
          <p:cNvSpPr/>
          <p:nvPr/>
        </p:nvSpPr>
        <p:spPr>
          <a:xfrm>
            <a:off x="548640" y="4800600"/>
            <a:ext cx="6812280" cy="548640"/>
          </a:xfrm>
          <a:prstGeom prst="roundRect">
            <a:avLst>
              <a:gd name="adj" fmla="val 13333"/>
            </a:avLst>
          </a:prstGeom>
          <a:solidFill>
            <a:schemeClr val="bg2"/>
          </a:solidFill>
          <a:ln/>
        </p:spPr>
      </p:sp>
      <p:sp>
        <p:nvSpPr>
          <p:cNvPr id="18" name="tr-4-text"/>
          <p:cNvSpPr txBox="1"/>
          <p:nvPr/>
        </p:nvSpPr>
        <p:spPr>
          <a:xfrm>
            <a:off x="685800" y="4800600"/>
            <a:ext cx="6583680" cy="548640"/>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4 → 5</a:t>
            </a:r>
            <a:pPr indent="0" marL="0">
              <a:buNone/>
            </a:pPr>
            <a:r>
              <a:rPr lang="en-US" sz="1300" dirty="0">
                <a:solidFill>
                  <a:srgbClr val="000000"/>
                </a:solidFill>
              </a:rPr>
              <a:t>   </a:t>
            </a:r>
            <a:pPr indent="0" marL="0">
              <a:buNone/>
            </a:pPr>
            <a:r>
              <a:rPr lang="en-US" sz="1300" b="1" dirty="0">
                <a:solidFill>
                  <a:srgbClr val="000000"/>
                </a:solidFill>
                <a:latin typeface="Consolas" pitchFamily="34" charset="0"/>
                <a:ea typeface="Consolas" pitchFamily="34" charset="-122"/>
                <a:cs typeface="Consolas" pitchFamily="34" charset="-120"/>
              </a:rPr>
              <a:t>recordEndOfLife</a:t>
            </a:r>
            <a:pPr indent="0" marL="0">
              <a:buNone/>
            </a:pPr>
            <a:r>
              <a:rPr lang="en-US" sz="1300" dirty="0">
                <a:solidFill>
                  <a:schemeClr val="accent6"/>
                </a:solidFill>
              </a:rPr>
              <a:t>  (Supplier)</a:t>
            </a:r>
            <a:pPr indent="0" marL="0">
              <a:buNone/>
            </a:pPr>
            <a:r>
              <a:rPr lang="en-US" sz="1300" dirty="0">
                <a:solidFill>
                  <a:schemeClr val="tx2"/>
                </a:solidFill>
              </a:rPr>
              <a:t>: stage change only</a:t>
            </a:r>
            <a:endParaRPr lang="en-US" sz="1300" dirty="0"/>
          </a:p>
        </p:txBody>
      </p:sp>
      <p:sp>
        <p:nvSpPr>
          <p:cNvPr id="19" name="tr-5-bg"/>
          <p:cNvSpPr/>
          <p:nvPr/>
        </p:nvSpPr>
        <p:spPr>
          <a:xfrm>
            <a:off x="548640" y="5440680"/>
            <a:ext cx="6812280" cy="548640"/>
          </a:xfrm>
          <a:prstGeom prst="roundRect">
            <a:avLst>
              <a:gd name="adj" fmla="val 13333"/>
            </a:avLst>
          </a:prstGeom>
          <a:solidFill>
            <a:schemeClr val="bg2"/>
          </a:solidFill>
          <a:ln/>
        </p:spPr>
      </p:sp>
      <p:sp>
        <p:nvSpPr>
          <p:cNvPr id="20" name="tr-5-text"/>
          <p:cNvSpPr txBox="1"/>
          <p:nvPr/>
        </p:nvSpPr>
        <p:spPr>
          <a:xfrm>
            <a:off x="685800" y="5440680"/>
            <a:ext cx="6583680" cy="548640"/>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5 → 6</a:t>
            </a:r>
            <a:pPr indent="0" marL="0">
              <a:buNone/>
            </a:pPr>
            <a:r>
              <a:rPr lang="en-US" sz="1300" dirty="0">
                <a:solidFill>
                  <a:srgbClr val="000000"/>
                </a:solidFill>
              </a:rPr>
              <a:t>   </a:t>
            </a:r>
            <a:pPr indent="0" marL="0">
              <a:buNone/>
            </a:pPr>
            <a:r>
              <a:rPr lang="en-US" sz="1300" b="1" dirty="0">
                <a:solidFill>
                  <a:srgbClr val="000000"/>
                </a:solidFill>
                <a:latin typeface="Consolas" pitchFamily="34" charset="0"/>
                <a:ea typeface="Consolas" pitchFamily="34" charset="-122"/>
                <a:cs typeface="Consolas" pitchFamily="34" charset="-120"/>
              </a:rPr>
              <a:t>recordRecycling</a:t>
            </a:r>
            <a:pPr indent="0" marL="0">
              <a:buNone/>
            </a:pPr>
            <a:r>
              <a:rPr lang="en-US" sz="1300" dirty="0">
                <a:solidFill>
                  <a:schemeClr val="accent6"/>
                </a:solidFill>
              </a:rPr>
              <a:t>  (Supplier)</a:t>
            </a:r>
            <a:pPr indent="0" marL="0">
              <a:buNone/>
            </a:pPr>
            <a:r>
              <a:rPr lang="en-US" sz="1300" dirty="0">
                <a:solidFill>
                  <a:schemeClr val="tx2"/>
                </a:solidFill>
              </a:rPr>
              <a:t>: recovered materials</a:t>
            </a:r>
            <a:endParaRPr lang="en-US" sz="1300" dirty="0"/>
          </a:p>
        </p:txBody>
      </p:sp>
      <p:sp>
        <p:nvSpPr>
          <p:cNvPr id="21" name="checks-bg"/>
          <p:cNvSpPr/>
          <p:nvPr/>
        </p:nvSpPr>
        <p:spPr>
          <a:xfrm>
            <a:off x="7680960" y="2240280"/>
            <a:ext cx="3959352" cy="3977640"/>
          </a:xfrm>
          <a:prstGeom prst="roundRect">
            <a:avLst>
              <a:gd name="adj" fmla="val 1848"/>
            </a:avLst>
          </a:prstGeom>
          <a:solidFill>
            <a:schemeClr val="bg2"/>
          </a:solidFill>
          <a:ln w="12700">
            <a:solidFill>
              <a:schemeClr val="accent1"/>
            </a:solidFill>
            <a:prstDash val="solid"/>
          </a:ln>
        </p:spPr>
      </p:sp>
      <p:sp>
        <p:nvSpPr>
          <p:cNvPr id="22" name="checks-title"/>
          <p:cNvSpPr txBox="1"/>
          <p:nvPr/>
        </p:nvSpPr>
        <p:spPr>
          <a:xfrm>
            <a:off x="7863840" y="2359152"/>
            <a:ext cx="3657600" cy="329184"/>
          </a:xfrm>
          <a:prstGeom prst="rect">
            <a:avLst/>
          </a:prstGeom>
          <a:noFill/>
          <a:ln/>
        </p:spPr>
        <p:txBody>
          <a:bodyPr wrap="square" lIns="0" tIns="0" rIns="0" bIns="0" rtlCol="0" anchor="t"/>
          <a:lstStyle/>
          <a:p>
            <a:pPr algn="l" indent="0" marL="0">
              <a:buNone/>
            </a:pPr>
            <a:r>
              <a:rPr lang="en-US" sz="1600" b="1" dirty="0">
                <a:solidFill>
                  <a:schemeClr val="accent1"/>
                </a:solidFill>
              </a:rPr>
              <a:t>Every lifecycle write checks</a:t>
            </a:r>
            <a:endParaRPr lang="en-US" sz="1600" dirty="0"/>
          </a:p>
        </p:txBody>
      </p:sp>
      <p:sp>
        <p:nvSpPr>
          <p:cNvPr id="23" name="check-0-badge"/>
          <p:cNvSpPr/>
          <p:nvPr/>
        </p:nvSpPr>
        <p:spPr>
          <a:xfrm>
            <a:off x="7863840" y="277977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4" name="check-0-text"/>
          <p:cNvSpPr txBox="1"/>
          <p:nvPr/>
        </p:nvSpPr>
        <p:spPr>
          <a:xfrm>
            <a:off x="8302752" y="2743200"/>
            <a:ext cx="3246120" cy="475488"/>
          </a:xfrm>
          <a:prstGeom prst="rect">
            <a:avLst/>
          </a:prstGeom>
          <a:noFill/>
          <a:ln/>
        </p:spPr>
        <p:txBody>
          <a:bodyPr wrap="square" lIns="0" tIns="0" rIns="0" bIns="0" rtlCol="0" anchor="ctr"/>
          <a:lstStyle/>
          <a:p>
            <a:pPr indent="0" marL="0">
              <a:buNone/>
            </a:pPr>
            <a:r>
              <a:rPr lang="en-US" sz="1300" b="1" dirty="0">
                <a:solidFill>
                  <a:srgbClr val="000000"/>
                </a:solidFill>
              </a:rPr>
              <a:t>Role</a:t>
            </a:r>
            <a:endParaRPr lang="en-US" sz="1300" dirty="0"/>
          </a:p>
          <a:p>
            <a:pPr indent="0" marL="0">
              <a:buNone/>
            </a:pPr>
            <a:r>
              <a:rPr lang="en-US" sz="1200" dirty="0">
                <a:solidFill>
                  <a:schemeClr val="tx2"/>
                </a:solidFill>
              </a:rPr>
              <a:t>modifier on msg.sender</a:t>
            </a:r>
            <a:endParaRPr lang="en-US" sz="1300" dirty="0"/>
          </a:p>
        </p:txBody>
      </p:sp>
      <p:sp>
        <p:nvSpPr>
          <p:cNvPr id="25" name="check-1-badge"/>
          <p:cNvSpPr/>
          <p:nvPr/>
        </p:nvSpPr>
        <p:spPr>
          <a:xfrm>
            <a:off x="7863840" y="326440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6" name="check-1-text"/>
          <p:cNvSpPr txBox="1"/>
          <p:nvPr/>
        </p:nvSpPr>
        <p:spPr>
          <a:xfrm>
            <a:off x="8302752" y="3227832"/>
            <a:ext cx="3246120" cy="475488"/>
          </a:xfrm>
          <a:prstGeom prst="rect">
            <a:avLst/>
          </a:prstGeom>
          <a:noFill/>
          <a:ln/>
        </p:spPr>
        <p:txBody>
          <a:bodyPr wrap="square" lIns="0" tIns="0" rIns="0" bIns="0" rtlCol="0" anchor="ctr"/>
          <a:lstStyle/>
          <a:p>
            <a:pPr indent="0" marL="0">
              <a:buNone/>
            </a:pPr>
            <a:r>
              <a:rPr lang="en-US" sz="1300" b="1" dirty="0">
                <a:solidFill>
                  <a:srgbClr val="000000"/>
                </a:solidFill>
              </a:rPr>
              <a:t>Batch exists</a:t>
            </a:r>
            <a:endParaRPr lang="en-US" sz="1300" dirty="0"/>
          </a:p>
          <a:p>
            <a:pPr indent="0" marL="0">
              <a:buNone/>
            </a:pPr>
            <a:r>
              <a:rPr lang="en-US" sz="1200" dirty="0">
                <a:solidFill>
                  <a:schemeClr val="tx2"/>
                </a:solidFill>
              </a:rPr>
              <a:t>batteryExists (registration: must be new)</a:t>
            </a:r>
            <a:endParaRPr lang="en-US" sz="1300" dirty="0"/>
          </a:p>
        </p:txBody>
      </p:sp>
      <p:sp>
        <p:nvSpPr>
          <p:cNvPr id="27" name="check-2-badge"/>
          <p:cNvSpPr/>
          <p:nvPr/>
        </p:nvSpPr>
        <p:spPr>
          <a:xfrm>
            <a:off x="7863840" y="374904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8" name="check-2-text"/>
          <p:cNvSpPr txBox="1"/>
          <p:nvPr/>
        </p:nvSpPr>
        <p:spPr>
          <a:xfrm>
            <a:off x="8302752" y="3712464"/>
            <a:ext cx="3246120" cy="475488"/>
          </a:xfrm>
          <a:prstGeom prst="rect">
            <a:avLst/>
          </a:prstGeom>
          <a:noFill/>
          <a:ln/>
        </p:spPr>
        <p:txBody>
          <a:bodyPr wrap="square" lIns="0" tIns="0" rIns="0" bIns="0" rtlCol="0" anchor="ctr"/>
          <a:lstStyle/>
          <a:p>
            <a:pPr indent="0" marL="0">
              <a:buNone/>
            </a:pPr>
            <a:r>
              <a:rPr lang="en-US" sz="1300" b="1" dirty="0">
                <a:solidFill>
                  <a:srgbClr val="000000"/>
                </a:solidFill>
              </a:rPr>
              <a:t>Correct stage</a:t>
            </a:r>
            <a:endParaRPr lang="en-US" sz="1300" dirty="0"/>
          </a:p>
          <a:p>
            <a:pPr indent="0" marL="0">
              <a:buNone/>
            </a:pPr>
            <a:r>
              <a:rPr lang="en-US" sz="1200" dirty="0">
                <a:solidFill>
                  <a:schemeClr val="tx2"/>
                </a:solidFill>
              </a:rPr>
              <a:t>atStage(expected): no skipping or going back</a:t>
            </a:r>
            <a:endParaRPr lang="en-US" sz="1300" dirty="0"/>
          </a:p>
        </p:txBody>
      </p:sp>
      <p:sp>
        <p:nvSpPr>
          <p:cNvPr id="29" name="check-3-badge"/>
          <p:cNvSpPr/>
          <p:nvPr/>
        </p:nvSpPr>
        <p:spPr>
          <a:xfrm>
            <a:off x="7863840" y="423367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0" name="check-3-text"/>
          <p:cNvSpPr txBox="1"/>
          <p:nvPr/>
        </p:nvSpPr>
        <p:spPr>
          <a:xfrm>
            <a:off x="8302752" y="4197096"/>
            <a:ext cx="3246120" cy="475488"/>
          </a:xfrm>
          <a:prstGeom prst="rect">
            <a:avLst/>
          </a:prstGeom>
          <a:noFill/>
          <a:ln/>
        </p:spPr>
        <p:txBody>
          <a:bodyPr wrap="square" lIns="0" tIns="0" rIns="0" bIns="0" rtlCol="0" anchor="ctr"/>
          <a:lstStyle/>
          <a:p>
            <a:pPr indent="0" marL="0">
              <a:buNone/>
            </a:pPr>
            <a:r>
              <a:rPr lang="en-US" sz="1300" b="1" dirty="0">
                <a:solidFill>
                  <a:srgbClr val="000000"/>
                </a:solidFill>
              </a:rPr>
              <a:t>Valid input</a:t>
            </a:r>
            <a:endParaRPr lang="en-US" sz="1300" dirty="0"/>
          </a:p>
          <a:p>
            <a:pPr indent="0" marL="0">
              <a:buNone/>
            </a:pPr>
            <a:r>
              <a:rPr lang="en-US" sz="1200" dirty="0">
                <a:solidFill>
                  <a:schemeClr val="tx2"/>
                </a:solidFill>
              </a:rPr>
              <a:t>non-empty text, 0–100 %, carbon &gt; 0</a:t>
            </a:r>
            <a:endParaRPr lang="en-US" sz="1300" dirty="0"/>
          </a:p>
        </p:txBody>
      </p:sp>
      <p:sp>
        <p:nvSpPr>
          <p:cNvPr id="31" name="check-4-badge"/>
          <p:cNvSpPr/>
          <p:nvPr/>
        </p:nvSpPr>
        <p:spPr>
          <a:xfrm>
            <a:off x="7863840" y="4718304"/>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2" name="check-4-text"/>
          <p:cNvSpPr txBox="1"/>
          <p:nvPr/>
        </p:nvSpPr>
        <p:spPr>
          <a:xfrm>
            <a:off x="8302752" y="4681728"/>
            <a:ext cx="3246120" cy="475488"/>
          </a:xfrm>
          <a:prstGeom prst="rect">
            <a:avLst/>
          </a:prstGeom>
          <a:noFill/>
          <a:ln/>
        </p:spPr>
        <p:txBody>
          <a:bodyPr wrap="square" lIns="0" tIns="0" rIns="0" bIns="0" rtlCol="0" anchor="ctr"/>
          <a:lstStyle/>
          <a:p>
            <a:pPr indent="0" marL="0">
              <a:buNone/>
            </a:pPr>
            <a:r>
              <a:rPr lang="en-US" sz="1300" b="1" dirty="0">
                <a:solidFill>
                  <a:srgbClr val="000000"/>
                </a:solidFill>
              </a:rPr>
              <a:t>Store + emit</a:t>
            </a:r>
            <a:endParaRPr lang="en-US" sz="1300" dirty="0"/>
          </a:p>
          <a:p>
            <a:pPr indent="0" marL="0">
              <a:buNone/>
            </a:pPr>
            <a:r>
              <a:rPr lang="en-US" sz="1200" dirty="0">
                <a:solidFill>
                  <a:schemeClr val="tx2"/>
                </a:solidFill>
              </a:rPr>
              <a:t>StageAdvanced(batchId, stage, sender, time)</a:t>
            </a:r>
            <a:endParaRPr lang="en-US" sz="1300" dirty="0"/>
          </a:p>
        </p:txBody>
      </p:sp>
      <p:sp>
        <p:nvSpPr>
          <p:cNvPr id="33" name="checks-revert"/>
          <p:cNvSpPr txBox="1"/>
          <p:nvPr/>
        </p:nvSpPr>
        <p:spPr>
          <a:xfrm>
            <a:off x="7863840" y="5193792"/>
            <a:ext cx="3657600" cy="384048"/>
          </a:xfrm>
          <a:prstGeom prst="rect">
            <a:avLst/>
          </a:prstGeom>
          <a:noFill/>
          <a:ln/>
        </p:spPr>
        <p:txBody>
          <a:bodyPr wrap="square" lIns="0" tIns="0" rIns="0" bIns="0" rtlCol="0" anchor="t"/>
          <a:lstStyle/>
          <a:p>
            <a:pPr algn="l" indent="0" marL="0">
              <a:buNone/>
            </a:pPr>
            <a:r>
              <a:rPr lang="en-US" sz="1200" b="1" dirty="0">
                <a:solidFill>
                  <a:schemeClr val="accent5"/>
                </a:solidFill>
              </a:rPr>
              <a:t>Any failed check reverts the whole transaction, so nothing is stored. Example:</a:t>
            </a:r>
            <a:endParaRPr lang="en-US" sz="1200" dirty="0"/>
          </a:p>
        </p:txBody>
      </p:sp>
      <p:sp>
        <p:nvSpPr>
          <p:cNvPr id="34" name="checks-example"/>
          <p:cNvSpPr txBox="1"/>
          <p:nvPr/>
        </p:nvSpPr>
        <p:spPr>
          <a:xfrm>
            <a:off x="7863840" y="5605272"/>
            <a:ext cx="3657600" cy="457200"/>
          </a:xfrm>
          <a:prstGeom prst="rect">
            <a:avLst/>
          </a:prstGeom>
          <a:noFill/>
          <a:ln/>
        </p:spPr>
        <p:txBody>
          <a:bodyPr wrap="square" lIns="0" tIns="0" rIns="0" bIns="0" rtlCol="0" anchor="t"/>
          <a:lstStyle/>
          <a:p>
            <a:pPr algn="l" indent="0" marL="0">
              <a:buNone/>
            </a:pPr>
            <a:r>
              <a:rPr lang="en-US" sz="1100" dirty="0">
                <a:solidFill>
                  <a:schemeClr val="tx2"/>
                </a:solidFill>
                <a:latin typeface="Consolas" pitchFamily="34" charset="0"/>
                <a:ea typeface="Consolas" pitchFamily="34" charset="-122"/>
                <a:cs typeface="Consolas" pitchFamily="34" charset="-120"/>
              </a:rPr>
              <a:t>“Stage order violated: prerequisite stage not yet complete”</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Frontend and transaction flow</a:t>
            </a:r>
            <a:endParaRPr lang="en-US" sz="3400" dirty="0"/>
          </a:p>
        </p:txBody>
      </p:sp>
      <p:sp>
        <p:nvSpPr>
          <p:cNvPr id="3" name="flow-0-badge"/>
          <p:cNvSpPr/>
          <p:nvPr/>
        </p:nvSpPr>
        <p:spPr>
          <a:xfrm>
            <a:off x="548640" y="1417320"/>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4" name="flow-0-text"/>
          <p:cNvSpPr txBox="1"/>
          <p:nvPr/>
        </p:nvSpPr>
        <p:spPr>
          <a:xfrm>
            <a:off x="1097280" y="1325880"/>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Connect</a:t>
            </a:r>
            <a:pPr indent="0" marL="0">
              <a:buNone/>
            </a:pPr>
            <a:r>
              <a:rPr lang="en-US" sz="1400" dirty="0">
                <a:solidFill>
                  <a:schemeClr val="tx1"/>
                </a:solidFill>
              </a:rPr>
              <a:t>   eth_requestAccounts; check chain ID 31337, or switch/add Hardhat Local</a:t>
            </a:r>
            <a:endParaRPr lang="en-US" sz="1400" dirty="0"/>
          </a:p>
        </p:txBody>
      </p:sp>
      <p:sp>
        <p:nvSpPr>
          <p:cNvPr id="5" name="flow-0-arrow"/>
          <p:cNvSpPr/>
          <p:nvPr/>
        </p:nvSpPr>
        <p:spPr>
          <a:xfrm>
            <a:off x="749808" y="1837944"/>
            <a:ext cx="0" cy="219456"/>
          </a:xfrm>
          <a:prstGeom prst="line">
            <a:avLst/>
          </a:prstGeom>
          <a:noFill/>
          <a:ln w="15875">
            <a:solidFill>
              <a:schemeClr val="accent6"/>
            </a:solidFill>
            <a:prstDash val="solid"/>
            <a:tailEnd type="triangle"/>
          </a:ln>
        </p:spPr>
      </p:sp>
      <p:sp>
        <p:nvSpPr>
          <p:cNvPr id="6" name="flow-1-badge"/>
          <p:cNvSpPr/>
          <p:nvPr/>
        </p:nvSpPr>
        <p:spPr>
          <a:xfrm>
            <a:off x="548640" y="2075688"/>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7" name="flow-1-text"/>
          <p:cNvSpPr txBox="1"/>
          <p:nvPr/>
        </p:nvSpPr>
        <p:spPr>
          <a:xfrm>
            <a:off x="1097280" y="1984248"/>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Read role</a:t>
            </a:r>
            <a:pPr indent="0" marL="0">
              <a:buNone/>
            </a:pPr>
            <a:r>
              <a:rPr lang="en-US" sz="1400" dirty="0">
                <a:solidFill>
                  <a:schemeClr val="tx1"/>
                </a:solidFill>
              </a:rPr>
              <a:t>   getRole(address) over local RPC; re-read on accountsChanged / chainChanged</a:t>
            </a:r>
            <a:endParaRPr lang="en-US" sz="1400" dirty="0"/>
          </a:p>
        </p:txBody>
      </p:sp>
      <p:sp>
        <p:nvSpPr>
          <p:cNvPr id="8" name="flow-1-arrow"/>
          <p:cNvSpPr/>
          <p:nvPr/>
        </p:nvSpPr>
        <p:spPr>
          <a:xfrm>
            <a:off x="749808" y="2496312"/>
            <a:ext cx="0" cy="219456"/>
          </a:xfrm>
          <a:prstGeom prst="line">
            <a:avLst/>
          </a:prstGeom>
          <a:noFill/>
          <a:ln w="15875">
            <a:solidFill>
              <a:schemeClr val="accent6"/>
            </a:solidFill>
            <a:prstDash val="solid"/>
            <a:tailEnd type="triangle"/>
          </a:ln>
        </p:spPr>
      </p:sp>
      <p:sp>
        <p:nvSpPr>
          <p:cNvPr id="9" name="flow-2-badge"/>
          <p:cNvSpPr/>
          <p:nvPr/>
        </p:nvSpPr>
        <p:spPr>
          <a:xfrm>
            <a:off x="548640" y="2734056"/>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0" name="flow-2-text"/>
          <p:cNvSpPr txBox="1"/>
          <p:nvPr/>
        </p:nvSpPr>
        <p:spPr>
          <a:xfrm>
            <a:off x="1097280" y="2642616"/>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Show forms</a:t>
            </a:r>
            <a:pPr indent="0" marL="0">
              <a:buNone/>
            </a:pPr>
            <a:r>
              <a:rPr lang="en-US" sz="1400" dirty="0">
                <a:solidFill>
                  <a:schemeClr val="tx1"/>
                </a:solidFill>
              </a:rPr>
              <a:t>   only the forms for that on-chain role are displayed</a:t>
            </a:r>
            <a:endParaRPr lang="en-US" sz="1400" dirty="0"/>
          </a:p>
        </p:txBody>
      </p:sp>
      <p:sp>
        <p:nvSpPr>
          <p:cNvPr id="11" name="flow-2-arrow"/>
          <p:cNvSpPr/>
          <p:nvPr/>
        </p:nvSpPr>
        <p:spPr>
          <a:xfrm>
            <a:off x="749808" y="3154680"/>
            <a:ext cx="0" cy="219456"/>
          </a:xfrm>
          <a:prstGeom prst="line">
            <a:avLst/>
          </a:prstGeom>
          <a:noFill/>
          <a:ln w="15875">
            <a:solidFill>
              <a:schemeClr val="accent6"/>
            </a:solidFill>
            <a:prstDash val="solid"/>
            <a:tailEnd type="triangle"/>
          </a:ln>
        </p:spPr>
      </p:sp>
      <p:sp>
        <p:nvSpPr>
          <p:cNvPr id="12" name="flow-3-badge"/>
          <p:cNvSpPr/>
          <p:nvPr/>
        </p:nvSpPr>
        <p:spPr>
          <a:xfrm>
            <a:off x="548640" y="3392424"/>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flow-3-text"/>
          <p:cNvSpPr txBox="1"/>
          <p:nvPr/>
        </p:nvSpPr>
        <p:spPr>
          <a:xfrm>
            <a:off x="1097280" y="3300984"/>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Simulate</a:t>
            </a:r>
            <a:pPr indent="0" marL="0">
              <a:buNone/>
            </a:pPr>
            <a:r>
              <a:rPr lang="en-US" sz="1400" dirty="0">
                <a:solidFill>
                  <a:schemeClr val="tx1"/>
                </a:solidFill>
              </a:rPr>
              <a:t>   simulateContract as the account; a revert shows the contract’s reason</a:t>
            </a:r>
            <a:endParaRPr lang="en-US" sz="1400" dirty="0"/>
          </a:p>
        </p:txBody>
      </p:sp>
      <p:sp>
        <p:nvSpPr>
          <p:cNvPr id="14" name="flow-3-arrow"/>
          <p:cNvSpPr/>
          <p:nvPr/>
        </p:nvSpPr>
        <p:spPr>
          <a:xfrm>
            <a:off x="749808" y="3813048"/>
            <a:ext cx="0" cy="219456"/>
          </a:xfrm>
          <a:prstGeom prst="line">
            <a:avLst/>
          </a:prstGeom>
          <a:noFill/>
          <a:ln w="15875">
            <a:solidFill>
              <a:schemeClr val="accent6"/>
            </a:solidFill>
            <a:prstDash val="solid"/>
            <a:tailEnd type="triangle"/>
          </a:ln>
        </p:spPr>
      </p:sp>
      <p:sp>
        <p:nvSpPr>
          <p:cNvPr id="15" name="flow-4-badge"/>
          <p:cNvSpPr/>
          <p:nvPr/>
        </p:nvSpPr>
        <p:spPr>
          <a:xfrm>
            <a:off x="548640" y="4050792"/>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6" name="flow-4-text"/>
          <p:cNvSpPr txBox="1"/>
          <p:nvPr/>
        </p:nvSpPr>
        <p:spPr>
          <a:xfrm>
            <a:off x="1097280" y="3959352"/>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Sign</a:t>
            </a:r>
            <a:pPr indent="0" marL="0">
              <a:buNone/>
            </a:pPr>
            <a:r>
              <a:rPr lang="en-US" sz="1400" dirty="0">
                <a:solidFill>
                  <a:schemeClr val="tx1"/>
                </a:solidFill>
              </a:rPr>
              <a:t>   writeContract → MetaMask asks the user to approve and signs</a:t>
            </a:r>
            <a:endParaRPr lang="en-US" sz="1400" dirty="0"/>
          </a:p>
        </p:txBody>
      </p:sp>
      <p:sp>
        <p:nvSpPr>
          <p:cNvPr id="17" name="flow-4-arrow"/>
          <p:cNvSpPr/>
          <p:nvPr/>
        </p:nvSpPr>
        <p:spPr>
          <a:xfrm>
            <a:off x="749808" y="4471416"/>
            <a:ext cx="0" cy="219456"/>
          </a:xfrm>
          <a:prstGeom prst="line">
            <a:avLst/>
          </a:prstGeom>
          <a:noFill/>
          <a:ln w="15875">
            <a:solidFill>
              <a:schemeClr val="accent6"/>
            </a:solidFill>
            <a:prstDash val="solid"/>
            <a:tailEnd type="triangle"/>
          </a:ln>
        </p:spPr>
      </p:sp>
      <p:sp>
        <p:nvSpPr>
          <p:cNvPr id="18" name="flow-5-badge"/>
          <p:cNvSpPr/>
          <p:nvPr/>
        </p:nvSpPr>
        <p:spPr>
          <a:xfrm>
            <a:off x="548640" y="4709160"/>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9" name="flow-5-text"/>
          <p:cNvSpPr txBox="1"/>
          <p:nvPr/>
        </p:nvSpPr>
        <p:spPr>
          <a:xfrm>
            <a:off x="1097280" y="4617720"/>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Confirm</a:t>
            </a:r>
            <a:pPr indent="0" marL="0">
              <a:buNone/>
            </a:pPr>
            <a:r>
              <a:rPr lang="en-US" sz="1400" dirty="0">
                <a:solidFill>
                  <a:schemeClr val="tx1"/>
                </a:solidFill>
              </a:rPr>
              <a:t>   waitForTransactionReceipt; status must be “success”</a:t>
            </a:r>
            <a:endParaRPr lang="en-US" sz="1400" dirty="0"/>
          </a:p>
        </p:txBody>
      </p:sp>
      <p:sp>
        <p:nvSpPr>
          <p:cNvPr id="20" name="flow-5-arrow"/>
          <p:cNvSpPr/>
          <p:nvPr/>
        </p:nvSpPr>
        <p:spPr>
          <a:xfrm>
            <a:off x="749808" y="5129784"/>
            <a:ext cx="0" cy="219456"/>
          </a:xfrm>
          <a:prstGeom prst="line">
            <a:avLst/>
          </a:prstGeom>
          <a:noFill/>
          <a:ln w="15875">
            <a:solidFill>
              <a:schemeClr val="accent6"/>
            </a:solidFill>
            <a:prstDash val="solid"/>
            <a:tailEnd type="triangle"/>
          </a:ln>
        </p:spPr>
      </p:sp>
      <p:sp>
        <p:nvSpPr>
          <p:cNvPr id="21" name="flow-6-badge"/>
          <p:cNvSpPr/>
          <p:nvPr/>
        </p:nvSpPr>
        <p:spPr>
          <a:xfrm>
            <a:off x="548640" y="5367528"/>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2" name="flow-6-text"/>
          <p:cNvSpPr txBox="1"/>
          <p:nvPr/>
        </p:nvSpPr>
        <p:spPr>
          <a:xfrm>
            <a:off x="1097280" y="5276088"/>
            <a:ext cx="6080760" cy="585216"/>
          </a:xfrm>
          <a:prstGeom prst="rect">
            <a:avLst/>
          </a:prstGeom>
          <a:noFill/>
          <a:ln/>
        </p:spPr>
        <p:txBody>
          <a:bodyPr wrap="square" lIns="0" tIns="0" rIns="0" bIns="0" rtlCol="0" anchor="ctr"/>
          <a:lstStyle/>
          <a:p>
            <a:pPr indent="0" marL="0">
              <a:buNone/>
            </a:pPr>
            <a:r>
              <a:rPr lang="en-US" sz="1400" b="1" dirty="0">
                <a:solidFill>
                  <a:schemeClr val="accent1"/>
                </a:solidFill>
              </a:rPr>
              <a:t>Refresh</a:t>
            </a:r>
            <a:pPr indent="0" marL="0">
              <a:buNone/>
            </a:pPr>
            <a:r>
              <a:rPr lang="en-US" sz="1400" dirty="0">
                <a:solidFill>
                  <a:schemeClr val="tx1"/>
                </a:solidFill>
              </a:rPr>
              <a:t>   re-read getPublicPassport; UI shows the block number</a:t>
            </a:r>
            <a:endParaRPr lang="en-US" sz="1400" dirty="0"/>
          </a:p>
        </p:txBody>
      </p:sp>
      <p:sp>
        <p:nvSpPr>
          <p:cNvPr id="23" name="ops-title"/>
          <p:cNvSpPr txBox="1"/>
          <p:nvPr/>
        </p:nvSpPr>
        <p:spPr>
          <a:xfrm>
            <a:off x="7589520" y="1325880"/>
            <a:ext cx="4050792" cy="329184"/>
          </a:xfrm>
          <a:prstGeom prst="rect">
            <a:avLst/>
          </a:prstGeom>
          <a:noFill/>
          <a:ln/>
        </p:spPr>
        <p:txBody>
          <a:bodyPr wrap="square" lIns="0" tIns="0" rIns="0" bIns="0" rtlCol="0" anchor="t"/>
          <a:lstStyle/>
          <a:p>
            <a:pPr algn="l" indent="0" marL="0">
              <a:buNone/>
            </a:pPr>
            <a:r>
              <a:rPr lang="en-US" sz="1700" b="1" dirty="0">
                <a:solidFill>
                  <a:schemeClr val="tx1"/>
                </a:solidFill>
              </a:rPr>
              <a:t>Three different operations</a:t>
            </a:r>
            <a:endParaRPr lang="en-US" sz="1700" dirty="0"/>
          </a:p>
        </p:txBody>
      </p:sp>
      <p:sp>
        <p:nvSpPr>
          <p:cNvPr id="24" name="ops-0-bg"/>
          <p:cNvSpPr/>
          <p:nvPr/>
        </p:nvSpPr>
        <p:spPr>
          <a:xfrm>
            <a:off x="7589520" y="1783080"/>
            <a:ext cx="4050792" cy="1298448"/>
          </a:xfrm>
          <a:prstGeom prst="roundRect">
            <a:avLst>
              <a:gd name="adj" fmla="val 5634"/>
            </a:avLst>
          </a:prstGeom>
          <a:solidFill>
            <a:schemeClr val="bg2"/>
          </a:solidFill>
          <a:ln/>
        </p:spPr>
      </p:sp>
      <p:sp>
        <p:nvSpPr>
          <p:cNvPr id="25" name="ops-0-title"/>
          <p:cNvSpPr txBox="1"/>
          <p:nvPr/>
        </p:nvSpPr>
        <p:spPr>
          <a:xfrm>
            <a:off x="7772400" y="1892808"/>
            <a:ext cx="3657600" cy="292608"/>
          </a:xfrm>
          <a:prstGeom prst="rect">
            <a:avLst/>
          </a:prstGeom>
          <a:noFill/>
          <a:ln/>
        </p:spPr>
        <p:txBody>
          <a:bodyPr wrap="square" lIns="0" tIns="0" rIns="0" bIns="0" rtlCol="0" anchor="t"/>
          <a:lstStyle/>
          <a:p>
            <a:pPr algn="l" indent="0" marL="0">
              <a:buNone/>
            </a:pPr>
            <a:r>
              <a:rPr lang="en-US" sz="1600" b="1" dirty="0">
                <a:solidFill>
                  <a:schemeClr val="accent1"/>
                </a:solidFill>
              </a:rPr>
              <a:t>Signing</a:t>
            </a:r>
            <a:endParaRPr lang="en-US" sz="1600" dirty="0"/>
          </a:p>
        </p:txBody>
      </p:sp>
      <p:sp>
        <p:nvSpPr>
          <p:cNvPr id="26" name="ops-0-body"/>
          <p:cNvSpPr txBox="1"/>
          <p:nvPr/>
        </p:nvSpPr>
        <p:spPr>
          <a:xfrm>
            <a:off x="7772400" y="2203704"/>
            <a:ext cx="3703320" cy="841248"/>
          </a:xfrm>
          <a:prstGeom prst="rect">
            <a:avLst/>
          </a:prstGeom>
          <a:noFill/>
          <a:ln/>
        </p:spPr>
        <p:txBody>
          <a:bodyPr wrap="square" lIns="0" tIns="0" rIns="0" bIns="0" rtlCol="0" anchor="t"/>
          <a:lstStyle/>
          <a:p>
            <a:pPr algn="l" indent="0" marL="0">
              <a:buNone/>
            </a:pPr>
            <a:r>
              <a:rPr lang="en-US" sz="1300" dirty="0">
                <a:solidFill>
                  <a:schemeClr val="tx2"/>
                </a:solidFill>
              </a:rPr>
              <a:t>MetaMask uses the account’s private key to sign the transaction. This proves who sent it, but nothing is on-chain yet.</a:t>
            </a:r>
            <a:endParaRPr lang="en-US" sz="1300" dirty="0"/>
          </a:p>
        </p:txBody>
      </p:sp>
      <p:sp>
        <p:nvSpPr>
          <p:cNvPr id="27" name="ops-1-bg"/>
          <p:cNvSpPr/>
          <p:nvPr/>
        </p:nvSpPr>
        <p:spPr>
          <a:xfrm>
            <a:off x="7589520" y="3218688"/>
            <a:ext cx="4050792" cy="1298448"/>
          </a:xfrm>
          <a:prstGeom prst="roundRect">
            <a:avLst>
              <a:gd name="adj" fmla="val 5634"/>
            </a:avLst>
          </a:prstGeom>
          <a:solidFill>
            <a:schemeClr val="bg2"/>
          </a:solidFill>
          <a:ln/>
        </p:spPr>
      </p:sp>
      <p:sp>
        <p:nvSpPr>
          <p:cNvPr id="28" name="ops-1-title"/>
          <p:cNvSpPr txBox="1"/>
          <p:nvPr/>
        </p:nvSpPr>
        <p:spPr>
          <a:xfrm>
            <a:off x="7772400" y="3328416"/>
            <a:ext cx="3657600" cy="292608"/>
          </a:xfrm>
          <a:prstGeom prst="rect">
            <a:avLst/>
          </a:prstGeom>
          <a:noFill/>
          <a:ln/>
        </p:spPr>
        <p:txBody>
          <a:bodyPr wrap="square" lIns="0" tIns="0" rIns="0" bIns="0" rtlCol="0" anchor="t"/>
          <a:lstStyle/>
          <a:p>
            <a:pPr algn="l" indent="0" marL="0">
              <a:buNone/>
            </a:pPr>
            <a:r>
              <a:rPr lang="en-US" sz="1600" b="1" dirty="0">
                <a:solidFill>
                  <a:schemeClr val="accent3"/>
                </a:solidFill>
              </a:rPr>
              <a:t>Confirmation</a:t>
            </a:r>
            <a:endParaRPr lang="en-US" sz="1600" dirty="0"/>
          </a:p>
        </p:txBody>
      </p:sp>
      <p:sp>
        <p:nvSpPr>
          <p:cNvPr id="29" name="ops-1-body"/>
          <p:cNvSpPr txBox="1"/>
          <p:nvPr/>
        </p:nvSpPr>
        <p:spPr>
          <a:xfrm>
            <a:off x="7772400" y="3639312"/>
            <a:ext cx="3703320" cy="841248"/>
          </a:xfrm>
          <a:prstGeom prst="rect">
            <a:avLst/>
          </a:prstGeom>
          <a:noFill/>
          <a:ln/>
        </p:spPr>
        <p:txBody>
          <a:bodyPr wrap="square" lIns="0" tIns="0" rIns="0" bIns="0" rtlCol="0" anchor="t"/>
          <a:lstStyle/>
          <a:p>
            <a:pPr algn="l" indent="0" marL="0">
              <a:buNone/>
            </a:pPr>
            <a:r>
              <a:rPr lang="en-US" sz="1300" dirty="0">
                <a:solidFill>
                  <a:schemeClr val="tx2"/>
                </a:solidFill>
              </a:rPr>
              <a:t>The node includes the transaction in a block (Hardhat automines one per transaction). The receipt shows success or revert.</a:t>
            </a:r>
            <a:endParaRPr lang="en-US" sz="1300" dirty="0"/>
          </a:p>
        </p:txBody>
      </p:sp>
      <p:sp>
        <p:nvSpPr>
          <p:cNvPr id="30" name="ops-2-bg"/>
          <p:cNvSpPr/>
          <p:nvPr/>
        </p:nvSpPr>
        <p:spPr>
          <a:xfrm>
            <a:off x="7589520" y="4654296"/>
            <a:ext cx="4050792" cy="1298448"/>
          </a:xfrm>
          <a:prstGeom prst="roundRect">
            <a:avLst>
              <a:gd name="adj" fmla="val 5634"/>
            </a:avLst>
          </a:prstGeom>
          <a:solidFill>
            <a:schemeClr val="bg2"/>
          </a:solidFill>
          <a:ln/>
        </p:spPr>
      </p:sp>
      <p:sp>
        <p:nvSpPr>
          <p:cNvPr id="31" name="ops-2-title"/>
          <p:cNvSpPr txBox="1"/>
          <p:nvPr/>
        </p:nvSpPr>
        <p:spPr>
          <a:xfrm>
            <a:off x="7772400" y="4764024"/>
            <a:ext cx="3657600" cy="292608"/>
          </a:xfrm>
          <a:prstGeom prst="rect">
            <a:avLst/>
          </a:prstGeom>
          <a:noFill/>
          <a:ln/>
        </p:spPr>
        <p:txBody>
          <a:bodyPr wrap="square" lIns="0" tIns="0" rIns="0" bIns="0" rtlCol="0" anchor="t"/>
          <a:lstStyle/>
          <a:p>
            <a:pPr algn="l" indent="0" marL="0">
              <a:buNone/>
            </a:pPr>
            <a:r>
              <a:rPr lang="en-US" sz="1600" b="1" dirty="0">
                <a:solidFill>
                  <a:schemeClr val="accent6"/>
                </a:solidFill>
              </a:rPr>
              <a:t>Reading</a:t>
            </a:r>
            <a:endParaRPr lang="en-US" sz="1600" dirty="0"/>
          </a:p>
        </p:txBody>
      </p:sp>
      <p:sp>
        <p:nvSpPr>
          <p:cNvPr id="32" name="ops-2-body"/>
          <p:cNvSpPr txBox="1"/>
          <p:nvPr/>
        </p:nvSpPr>
        <p:spPr>
          <a:xfrm>
            <a:off x="7772400" y="5074920"/>
            <a:ext cx="3703320" cy="841248"/>
          </a:xfrm>
          <a:prstGeom prst="rect">
            <a:avLst/>
          </a:prstGeom>
          <a:noFill/>
          <a:ln/>
        </p:spPr>
        <p:txBody>
          <a:bodyPr wrap="square" lIns="0" tIns="0" rIns="0" bIns="0" rtlCol="0" anchor="t"/>
          <a:lstStyle/>
          <a:p>
            <a:pPr algn="l" indent="0" marL="0">
              <a:buNone/>
            </a:pPr>
            <a:r>
              <a:rPr lang="en-US" sz="1300" dirty="0">
                <a:solidFill>
                  <a:schemeClr val="tx2"/>
                </a:solidFill>
              </a:rPr>
              <a:t>eth_call returns current contract data. Free and instant, with no signature and no block. Used for the public passport.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Public passport and QR code</a:t>
            </a:r>
            <a:endParaRPr lang="en-US" sz="3400" dirty="0"/>
          </a:p>
        </p:txBody>
      </p:sp>
      <p:sp>
        <p:nvSpPr>
          <p:cNvPr id="3" name="shot-placeholder"/>
          <p:cNvSpPr/>
          <p:nvPr/>
        </p:nvSpPr>
        <p:spPr>
          <a:xfrm>
            <a:off x="548640" y="1325880"/>
            <a:ext cx="5760720" cy="4754880"/>
          </a:xfrm>
          <a:prstGeom prst="roundRect">
            <a:avLst>
              <a:gd name="adj" fmla="val 1538"/>
            </a:avLst>
          </a:prstGeom>
          <a:solidFill>
            <a:schemeClr val="bg2"/>
          </a:solidFill>
          <a:ln w="19050">
            <a:solidFill>
              <a:schemeClr val="accent6"/>
            </a:solidFill>
            <a:prstDash val="dash"/>
          </a:ln>
        </p:spPr>
      </p:sp>
      <p:sp>
        <p:nvSpPr>
          <p:cNvPr id="4" name="shot-placeholder-text"/>
          <p:cNvSpPr txBox="1"/>
          <p:nvPr/>
        </p:nvSpPr>
        <p:spPr>
          <a:xfrm>
            <a:off x="1005840" y="1325880"/>
            <a:ext cx="4846320" cy="4754880"/>
          </a:xfrm>
          <a:prstGeom prst="rect">
            <a:avLst/>
          </a:prstGeom>
          <a:noFill/>
          <a:ln/>
        </p:spPr>
        <p:txBody>
          <a:bodyPr wrap="square" lIns="0" tIns="0" rIns="0" bIns="0" rtlCol="0" anchor="ctr"/>
          <a:lstStyle/>
          <a:p>
            <a:pPr algn="ctr" indent="0" marL="0">
              <a:buNone/>
            </a:pPr>
            <a:r>
              <a:rPr lang="en-US" sz="1800" b="1" dirty="0">
                <a:solidFill>
                  <a:schemeClr val="accent6"/>
                </a:solidFill>
              </a:rPr>
              <a:t>SCREENSHOT PLACEHOLDER</a:t>
            </a:r>
            <a:endParaRPr lang="en-US" sz="1400" dirty="0"/>
          </a:p>
          <a:p>
            <a:pPr algn="ctr" indent="0" marL="0">
              <a:buNone/>
            </a:pPr>
            <a:r>
              <a:rPr lang="en-US" sz="1000" dirty="0">
                <a:solidFill>
                  <a:schemeClr val="tx1"/>
                </a:solidFill>
              </a:rPr>
              <a:t> </a:t>
            </a:r>
            <a:endParaRPr lang="en-US" sz="1400" dirty="0"/>
          </a:p>
          <a:p>
            <a:pPr algn="ctr" indent="0" marL="0">
              <a:buNone/>
            </a:pPr>
            <a:r>
              <a:rPr lang="en-US" sz="1400" dirty="0">
                <a:solidFill>
                  <a:schemeClr val="accent6"/>
                </a:solidFill>
              </a:rPr>
              <a:t>Insert your own screenshot of the public passport for DEMO-BATCH-0001: lifecycle tracker, public fields and QR code.</a:t>
            </a:r>
            <a:endParaRPr lang="en-US" sz="1400" dirty="0"/>
          </a:p>
        </p:txBody>
      </p:sp>
      <p:sp>
        <p:nvSpPr>
          <p:cNvPr id="5" name="qr-title"/>
          <p:cNvSpPr txBox="1"/>
          <p:nvPr/>
        </p:nvSpPr>
        <p:spPr>
          <a:xfrm>
            <a:off x="6675120" y="1325880"/>
            <a:ext cx="4965192" cy="347472"/>
          </a:xfrm>
          <a:prstGeom prst="rect">
            <a:avLst/>
          </a:prstGeom>
          <a:noFill/>
          <a:ln/>
        </p:spPr>
        <p:txBody>
          <a:bodyPr wrap="square" lIns="0" tIns="0" rIns="0" bIns="0" rtlCol="0" anchor="t"/>
          <a:lstStyle/>
          <a:p>
            <a:pPr algn="l" indent="0" marL="0">
              <a:buNone/>
            </a:pPr>
            <a:r>
              <a:rPr lang="en-US" sz="1700" b="1" dirty="0">
                <a:solidFill>
                  <a:schemeClr val="tx1"/>
                </a:solidFill>
              </a:rPr>
              <a:t>How the QR link works</a:t>
            </a:r>
            <a:endParaRPr lang="en-US" sz="1700" dirty="0"/>
          </a:p>
        </p:txBody>
      </p:sp>
      <p:sp>
        <p:nvSpPr>
          <p:cNvPr id="6" name="qr-0-badge"/>
          <p:cNvSpPr/>
          <p:nvPr/>
        </p:nvSpPr>
        <p:spPr>
          <a:xfrm>
            <a:off x="6675120" y="185623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qr-0-text"/>
          <p:cNvSpPr txBox="1"/>
          <p:nvPr/>
        </p:nvSpPr>
        <p:spPr>
          <a:xfrm>
            <a:off x="7178040" y="1783080"/>
            <a:ext cx="4462272" cy="548640"/>
          </a:xfrm>
          <a:prstGeom prst="rect">
            <a:avLst/>
          </a:prstGeom>
          <a:noFill/>
          <a:ln/>
        </p:spPr>
        <p:txBody>
          <a:bodyPr wrap="square" lIns="0" tIns="0" rIns="0" bIns="0" rtlCol="0" anchor="ctr"/>
          <a:lstStyle/>
          <a:p>
            <a:pPr indent="0" marL="0">
              <a:buNone/>
            </a:pPr>
            <a:r>
              <a:rPr lang="en-US" sz="1400" dirty="0">
                <a:solidFill>
                  <a:schemeClr val="tx1"/>
                </a:solidFill>
              </a:rPr>
              <a:t>The dashboard renders a QR code for </a:t>
            </a:r>
            <a:pPr indent="0" marL="0">
              <a:buNone/>
            </a:pPr>
            <a:r>
              <a:rPr lang="en-US" sz="1200" dirty="0">
                <a:solidFill>
                  <a:schemeClr val="tx1"/>
                </a:solidFill>
                <a:latin typeface="Consolas" pitchFamily="34" charset="0"/>
                <a:ea typeface="Consolas" pitchFamily="34" charset="-122"/>
                <a:cs typeface="Consolas" pitchFamily="34" charset="-120"/>
              </a:rPr>
              <a:t>http://localhost:5173/?passport=&lt;batch ID&gt;</a:t>
            </a:r>
            <a:endParaRPr lang="en-US" sz="1400" dirty="0"/>
          </a:p>
        </p:txBody>
      </p:sp>
      <p:sp>
        <p:nvSpPr>
          <p:cNvPr id="8" name="qr-1-badge"/>
          <p:cNvSpPr/>
          <p:nvPr/>
        </p:nvSpPr>
        <p:spPr>
          <a:xfrm>
            <a:off x="6675120" y="247802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qr-1-text"/>
          <p:cNvSpPr txBox="1"/>
          <p:nvPr/>
        </p:nvSpPr>
        <p:spPr>
          <a:xfrm>
            <a:off x="7178040" y="2404872"/>
            <a:ext cx="4462272" cy="548640"/>
          </a:xfrm>
          <a:prstGeom prst="rect">
            <a:avLst/>
          </a:prstGeom>
          <a:noFill/>
          <a:ln/>
        </p:spPr>
        <p:txBody>
          <a:bodyPr wrap="square" lIns="0" tIns="0" rIns="0" bIns="0" rtlCol="0" anchor="ctr"/>
          <a:lstStyle/>
          <a:p>
            <a:pPr indent="0" marL="0">
              <a:buNone/>
            </a:pPr>
            <a:r>
              <a:rPr lang="en-US" sz="1400" dirty="0">
                <a:solidFill>
                  <a:schemeClr val="tx1"/>
                </a:solidFill>
              </a:rPr>
              <a:t>Opening the link loads the app, which reads the </a:t>
            </a:r>
            <a:pPr indent="0" marL="0">
              <a:buNone/>
            </a:pPr>
            <a:r>
              <a:rPr lang="en-US" sz="1200" dirty="0">
                <a:solidFill>
                  <a:schemeClr val="tx1"/>
                </a:solidFill>
                <a:latin typeface="Consolas" pitchFamily="34" charset="0"/>
                <a:ea typeface="Consolas" pitchFamily="34" charset="-122"/>
                <a:cs typeface="Consolas" pitchFamily="34" charset="-120"/>
              </a:rPr>
              <a:t>?passport=</a:t>
            </a:r>
            <a:pPr indent="0" marL="0">
              <a:buNone/>
            </a:pPr>
            <a:r>
              <a:rPr lang="en-US" sz="1400" dirty="0">
                <a:solidFill>
                  <a:schemeClr val="tx1"/>
                </a:solidFill>
              </a:rPr>
              <a:t> parameter</a:t>
            </a:r>
            <a:endParaRPr lang="en-US" sz="1400" dirty="0"/>
          </a:p>
        </p:txBody>
      </p:sp>
      <p:sp>
        <p:nvSpPr>
          <p:cNvPr id="10" name="qr-2-badge"/>
          <p:cNvSpPr/>
          <p:nvPr/>
        </p:nvSpPr>
        <p:spPr>
          <a:xfrm>
            <a:off x="6675120" y="309981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qr-2-text"/>
          <p:cNvSpPr txBox="1"/>
          <p:nvPr/>
        </p:nvSpPr>
        <p:spPr>
          <a:xfrm>
            <a:off x="7178040" y="3026664"/>
            <a:ext cx="4462272" cy="548640"/>
          </a:xfrm>
          <a:prstGeom prst="rect">
            <a:avLst/>
          </a:prstGeom>
          <a:noFill/>
          <a:ln/>
        </p:spPr>
        <p:txBody>
          <a:bodyPr wrap="square" lIns="0" tIns="0" rIns="0" bIns="0" rtlCol="0" anchor="ctr"/>
          <a:lstStyle/>
          <a:p>
            <a:pPr indent="0" marL="0">
              <a:buNone/>
            </a:pPr>
            <a:r>
              <a:rPr lang="en-US" sz="1400" dirty="0">
                <a:solidFill>
                  <a:schemeClr val="tx1"/>
                </a:solidFill>
              </a:rPr>
              <a:t>It calls </a:t>
            </a:r>
            <a:pPr indent="0" marL="0">
              <a:buNone/>
            </a:pPr>
            <a:r>
              <a:rPr lang="en-US" sz="1200" dirty="0">
                <a:solidFill>
                  <a:schemeClr val="tx1"/>
                </a:solidFill>
                <a:latin typeface="Consolas" pitchFamily="34" charset="0"/>
                <a:ea typeface="Consolas" pitchFamily="34" charset="-122"/>
                <a:cs typeface="Consolas" pitchFamily="34" charset="-120"/>
              </a:rPr>
              <a:t>getPublicPassport</a:t>
            </a:r>
            <a:pPr indent="0" marL="0">
              <a:buNone/>
            </a:pPr>
            <a:r>
              <a:rPr lang="en-US" sz="1400" dirty="0">
                <a:solidFill>
                  <a:schemeClr val="tx1"/>
                </a:solidFill>
              </a:rPr>
              <a:t> over the local RPC: no wallet, no signature</a:t>
            </a:r>
            <a:endParaRPr lang="en-US" sz="1400" dirty="0"/>
          </a:p>
        </p:txBody>
      </p:sp>
      <p:sp>
        <p:nvSpPr>
          <p:cNvPr id="12" name="qr-3-badge"/>
          <p:cNvSpPr/>
          <p:nvPr/>
        </p:nvSpPr>
        <p:spPr>
          <a:xfrm>
            <a:off x="6675120" y="372160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qr-3-text"/>
          <p:cNvSpPr txBox="1"/>
          <p:nvPr/>
        </p:nvSpPr>
        <p:spPr>
          <a:xfrm>
            <a:off x="7178040" y="3648456"/>
            <a:ext cx="4462272" cy="548640"/>
          </a:xfrm>
          <a:prstGeom prst="rect">
            <a:avLst/>
          </a:prstGeom>
          <a:noFill/>
          <a:ln/>
        </p:spPr>
        <p:txBody>
          <a:bodyPr wrap="square" lIns="0" tIns="0" rIns="0" bIns="0" rtlCol="0" anchor="ctr"/>
          <a:lstStyle/>
          <a:p>
            <a:pPr indent="0" marL="0">
              <a:buNone/>
            </a:pPr>
            <a:r>
              <a:rPr lang="en-US" sz="1400" dirty="0">
                <a:solidFill>
                  <a:schemeClr val="tx1"/>
                </a:solidFill>
              </a:rPr>
              <a:t>It shows the lifecycle tracker and public fields; an unknown ID shows “not registered”</a:t>
            </a:r>
            <a:endParaRPr lang="en-US" sz="1400" dirty="0"/>
          </a:p>
        </p:txBody>
      </p:sp>
      <p:sp>
        <p:nvSpPr>
          <p:cNvPr id="14" name="pub-card"/>
          <p:cNvSpPr/>
          <p:nvPr/>
        </p:nvSpPr>
        <p:spPr>
          <a:xfrm>
            <a:off x="6675120" y="4343400"/>
            <a:ext cx="2377440" cy="1536192"/>
          </a:xfrm>
          <a:prstGeom prst="roundRect">
            <a:avLst>
              <a:gd name="adj" fmla="val 4762"/>
            </a:avLst>
          </a:prstGeom>
          <a:solidFill>
            <a:schemeClr val="accent3">
              <a:alpha val="10000"/>
            </a:schemeClr>
          </a:solidFill>
          <a:ln/>
        </p:spPr>
      </p:sp>
      <p:sp>
        <p:nvSpPr>
          <p:cNvPr id="15" name="pub-card-title"/>
          <p:cNvSpPr txBox="1"/>
          <p:nvPr/>
        </p:nvSpPr>
        <p:spPr>
          <a:xfrm>
            <a:off x="6812280" y="4416552"/>
            <a:ext cx="2148840" cy="274320"/>
          </a:xfrm>
          <a:prstGeom prst="rect">
            <a:avLst/>
          </a:prstGeom>
          <a:noFill/>
          <a:ln/>
        </p:spPr>
        <p:txBody>
          <a:bodyPr wrap="square" lIns="0" tIns="0" rIns="0" bIns="0" rtlCol="0" anchor="t"/>
          <a:lstStyle/>
          <a:p>
            <a:pPr algn="l" indent="0" marL="0">
              <a:buNone/>
            </a:pPr>
            <a:r>
              <a:rPr lang="en-US" sz="1400" b="1" dirty="0">
                <a:solidFill>
                  <a:schemeClr val="accent3"/>
                </a:solidFill>
              </a:rPr>
              <a:t>Public (anyone)</a:t>
            </a:r>
            <a:endParaRPr lang="en-US" sz="1400" dirty="0"/>
          </a:p>
        </p:txBody>
      </p:sp>
      <p:sp>
        <p:nvSpPr>
          <p:cNvPr id="16" name="pub-card-body"/>
          <p:cNvSpPr txBox="1"/>
          <p:nvPr/>
        </p:nvSpPr>
        <p:spPr>
          <a:xfrm>
            <a:off x="6812280" y="4700016"/>
            <a:ext cx="2148840" cy="1161288"/>
          </a:xfrm>
          <a:prstGeom prst="rect">
            <a:avLst/>
          </a:prstGeom>
          <a:noFill/>
          <a:ln/>
        </p:spPr>
        <p:txBody>
          <a:bodyPr wrap="square" lIns="0" tIns="0" rIns="0" bIns="0" rtlCol="0" anchor="t"/>
          <a:lstStyle/>
          <a:p>
            <a:pPr algn="l" indent="0" marL="0">
              <a:buNone/>
            </a:pPr>
            <a:r>
              <a:rPr lang="en-US" sz="1200" dirty="0">
                <a:solidFill>
                  <a:schemeClr val="tx2"/>
                </a:solidFill>
              </a:rPr>
              <a:t>Origin, mine location, recycled %, carbon footprint, manufacturing, VIN, quality, distribution, recovered materials, stage</a:t>
            </a:r>
            <a:endParaRPr lang="en-US" sz="1200" dirty="0"/>
          </a:p>
        </p:txBody>
      </p:sp>
      <p:sp>
        <p:nvSpPr>
          <p:cNvPr id="17" name="full-card"/>
          <p:cNvSpPr/>
          <p:nvPr/>
        </p:nvSpPr>
        <p:spPr>
          <a:xfrm>
            <a:off x="9262872" y="4343400"/>
            <a:ext cx="2377440" cy="1536192"/>
          </a:xfrm>
          <a:prstGeom prst="roundRect">
            <a:avLst>
              <a:gd name="adj" fmla="val 4762"/>
            </a:avLst>
          </a:prstGeom>
          <a:solidFill>
            <a:schemeClr val="accent1">
              <a:alpha val="10000"/>
            </a:schemeClr>
          </a:solidFill>
          <a:ln/>
        </p:spPr>
      </p:sp>
      <p:sp>
        <p:nvSpPr>
          <p:cNvPr id="18" name="full-card-title"/>
          <p:cNvSpPr txBox="1"/>
          <p:nvPr/>
        </p:nvSpPr>
        <p:spPr>
          <a:xfrm>
            <a:off x="9400032" y="4416552"/>
            <a:ext cx="2148840" cy="274320"/>
          </a:xfrm>
          <a:prstGeom prst="rect">
            <a:avLst/>
          </a:prstGeom>
          <a:noFill/>
          <a:ln/>
        </p:spPr>
        <p:txBody>
          <a:bodyPr wrap="square" lIns="0" tIns="0" rIns="0" bIns="0" rtlCol="0" anchor="t"/>
          <a:lstStyle/>
          <a:p>
            <a:pPr algn="l" indent="0" marL="0">
              <a:buNone/>
            </a:pPr>
            <a:r>
              <a:rPr lang="en-US" sz="1400" b="1" dirty="0">
                <a:solidFill>
                  <a:schemeClr val="accent1"/>
                </a:solidFill>
              </a:rPr>
              <a:t>Full (Admin, Regulator)</a:t>
            </a:r>
            <a:endParaRPr lang="en-US" sz="1400" dirty="0"/>
          </a:p>
        </p:txBody>
      </p:sp>
      <p:sp>
        <p:nvSpPr>
          <p:cNvPr id="19" name="full-card-body"/>
          <p:cNvSpPr txBox="1"/>
          <p:nvPr/>
        </p:nvSpPr>
        <p:spPr>
          <a:xfrm>
            <a:off x="9400032" y="4700016"/>
            <a:ext cx="2148840" cy="1161288"/>
          </a:xfrm>
          <a:prstGeom prst="rect">
            <a:avLst/>
          </a:prstGeom>
          <a:noFill/>
          <a:ln/>
        </p:spPr>
        <p:txBody>
          <a:bodyPr wrap="square" lIns="0" tIns="0" rIns="0" bIns="0" rtlCol="0" anchor="t"/>
          <a:lstStyle/>
          <a:p>
            <a:pPr algn="l" indent="0" marL="0">
              <a:buNone/>
            </a:pPr>
            <a:r>
              <a:rPr lang="en-US" sz="1200" dirty="0">
                <a:solidFill>
                  <a:schemeClr val="tx2"/>
                </a:solidFill>
              </a:rPr>
              <a:t>All public fields, plus supplier address (registeredBy), registration time and refining details</a:t>
            </a:r>
            <a:endParaRPr lang="en-US" sz="1200" dirty="0"/>
          </a:p>
        </p:txBody>
      </p:sp>
      <p:sp>
        <p:nvSpPr>
          <p:cNvPr id="20" name="qr-note"/>
          <p:cNvSpPr txBox="1"/>
          <p:nvPr/>
        </p:nvSpPr>
        <p:spPr>
          <a:xfrm>
            <a:off x="6675120" y="5943600"/>
            <a:ext cx="4965192" cy="274320"/>
          </a:xfrm>
          <a:prstGeom prst="rect">
            <a:avLst/>
          </a:prstGeom>
          <a:noFill/>
          <a:ln/>
        </p:spPr>
        <p:txBody>
          <a:bodyPr wrap="square" lIns="0" tIns="0" rIns="0" bIns="0" rtlCol="0" anchor="t"/>
          <a:lstStyle/>
          <a:p>
            <a:pPr algn="l" indent="0" marL="0">
              <a:buNone/>
            </a:pPr>
            <a:r>
              <a:rPr lang="en-US" sz="1200" i="1" dirty="0">
                <a:solidFill>
                  <a:schemeClr val="accent6"/>
                </a:solidFill>
              </a:rPr>
              <a:t>Works on this computer while the app and local node run.</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Results: tests and demo batches</a:t>
            </a:r>
            <a:endParaRPr lang="en-US" sz="3400" dirty="0"/>
          </a:p>
        </p:txBody>
      </p:sp>
      <p:sp>
        <p:nvSpPr>
          <p:cNvPr id="3" name="res-stat-0"/>
          <p:cNvSpPr/>
          <p:nvPr/>
        </p:nvSpPr>
        <p:spPr>
          <a:xfrm>
            <a:off x="548640" y="1325880"/>
            <a:ext cx="3520440" cy="1280160"/>
          </a:xfrm>
          <a:prstGeom prst="roundRect">
            <a:avLst>
              <a:gd name="adj" fmla="val 5714"/>
            </a:avLst>
          </a:prstGeom>
          <a:solidFill>
            <a:schemeClr val="bg2"/>
          </a:solidFill>
          <a:ln/>
        </p:spPr>
      </p:sp>
      <p:sp>
        <p:nvSpPr>
          <p:cNvPr id="4" name="res-stat-0-num"/>
          <p:cNvSpPr txBox="1"/>
          <p:nvPr/>
        </p:nvSpPr>
        <p:spPr>
          <a:xfrm>
            <a:off x="777240" y="1399032"/>
            <a:ext cx="3108960" cy="640080"/>
          </a:xfrm>
          <a:prstGeom prst="rect">
            <a:avLst/>
          </a:prstGeom>
          <a:noFill/>
          <a:ln/>
        </p:spPr>
        <p:txBody>
          <a:bodyPr wrap="square" lIns="0" tIns="0" rIns="0" bIns="0" rtlCol="0" anchor="ctr"/>
          <a:lstStyle/>
          <a:p>
            <a:pPr algn="l" indent="0" marL="0">
              <a:buNone/>
            </a:pPr>
            <a:r>
              <a:rPr lang="en-US" sz="3400" b="1" dirty="0">
                <a:solidFill>
                  <a:schemeClr val="accent1"/>
                </a:solidFill>
              </a:rPr>
              <a:t>10 / 10</a:t>
            </a:r>
            <a:endParaRPr lang="en-US" sz="3400" dirty="0"/>
          </a:p>
        </p:txBody>
      </p:sp>
      <p:sp>
        <p:nvSpPr>
          <p:cNvPr id="5" name="res-stat-0-label"/>
          <p:cNvSpPr txBox="1"/>
          <p:nvPr/>
        </p:nvSpPr>
        <p:spPr>
          <a:xfrm>
            <a:off x="777240" y="2011680"/>
            <a:ext cx="3154680" cy="548640"/>
          </a:xfrm>
          <a:prstGeom prst="rect">
            <a:avLst/>
          </a:prstGeom>
          <a:noFill/>
          <a:ln/>
        </p:spPr>
        <p:txBody>
          <a:bodyPr wrap="square" lIns="0" tIns="0" rIns="0" bIns="0" rtlCol="0" anchor="t"/>
          <a:lstStyle/>
          <a:p>
            <a:pPr algn="l" indent="0" marL="0">
              <a:buNone/>
            </a:pPr>
            <a:r>
              <a:rPr lang="en-US" sz="1400" b="1" dirty="0">
                <a:solidFill>
                  <a:schemeClr val="tx1"/>
                </a:solidFill>
              </a:rPr>
              <a:t>Solidity tests passing</a:t>
            </a:r>
            <a:endParaRPr lang="en-US" sz="1400" dirty="0"/>
          </a:p>
          <a:p>
            <a:pPr algn="l" indent="0" marL="0">
              <a:buNone/>
            </a:pPr>
            <a:r>
              <a:rPr lang="en-US" sz="1200" dirty="0">
                <a:solidFill>
                  <a:schemeClr val="accent6"/>
                </a:solidFill>
              </a:rPr>
              <a:t>npx hardhat test solidity</a:t>
            </a:r>
            <a:endParaRPr lang="en-US" sz="1400" dirty="0"/>
          </a:p>
        </p:txBody>
      </p:sp>
      <p:sp>
        <p:nvSpPr>
          <p:cNvPr id="6" name="res-stat-1"/>
          <p:cNvSpPr/>
          <p:nvPr/>
        </p:nvSpPr>
        <p:spPr>
          <a:xfrm>
            <a:off x="4334256" y="1325880"/>
            <a:ext cx="3520440" cy="1280160"/>
          </a:xfrm>
          <a:prstGeom prst="roundRect">
            <a:avLst>
              <a:gd name="adj" fmla="val 5714"/>
            </a:avLst>
          </a:prstGeom>
          <a:solidFill>
            <a:schemeClr val="bg2"/>
          </a:solidFill>
          <a:ln/>
        </p:spPr>
      </p:sp>
      <p:sp>
        <p:nvSpPr>
          <p:cNvPr id="7" name="res-stat-1-num"/>
          <p:cNvSpPr txBox="1"/>
          <p:nvPr/>
        </p:nvSpPr>
        <p:spPr>
          <a:xfrm>
            <a:off x="4562856" y="1399032"/>
            <a:ext cx="3108960" cy="640080"/>
          </a:xfrm>
          <a:prstGeom prst="rect">
            <a:avLst/>
          </a:prstGeom>
          <a:noFill/>
          <a:ln/>
        </p:spPr>
        <p:txBody>
          <a:bodyPr wrap="square" lIns="0" tIns="0" rIns="0" bIns="0" rtlCol="0" anchor="ctr"/>
          <a:lstStyle/>
          <a:p>
            <a:pPr algn="l" indent="0" marL="0">
              <a:buNone/>
            </a:pPr>
            <a:r>
              <a:rPr lang="en-US" sz="3400" b="1" dirty="0">
                <a:solidFill>
                  <a:schemeClr val="accent3"/>
                </a:solidFill>
              </a:rPr>
              <a:t>6 / 6</a:t>
            </a:r>
            <a:endParaRPr lang="en-US" sz="3400" dirty="0"/>
          </a:p>
        </p:txBody>
      </p:sp>
      <p:sp>
        <p:nvSpPr>
          <p:cNvPr id="8" name="res-stat-1-label"/>
          <p:cNvSpPr txBox="1"/>
          <p:nvPr/>
        </p:nvSpPr>
        <p:spPr>
          <a:xfrm>
            <a:off x="4562856" y="2011680"/>
            <a:ext cx="3154680" cy="548640"/>
          </a:xfrm>
          <a:prstGeom prst="rect">
            <a:avLst/>
          </a:prstGeom>
          <a:noFill/>
          <a:ln/>
        </p:spPr>
        <p:txBody>
          <a:bodyPr wrap="square" lIns="0" tIns="0" rIns="0" bIns="0" rtlCol="0" anchor="t"/>
          <a:lstStyle/>
          <a:p>
            <a:pPr algn="l" indent="0" marL="0">
              <a:buNone/>
            </a:pPr>
            <a:r>
              <a:rPr lang="en-US" sz="1400" b="1" dirty="0">
                <a:solidFill>
                  <a:schemeClr val="tx1"/>
                </a:solidFill>
              </a:rPr>
              <a:t>stages completed by DEMO-BATCH-0001</a:t>
            </a:r>
            <a:endParaRPr lang="en-US" sz="1400" dirty="0"/>
          </a:p>
          <a:p>
            <a:pPr algn="l" indent="0" marL="0">
              <a:buNone/>
            </a:pPr>
            <a:r>
              <a:rPr lang="en-US" sz="1200" dirty="0">
                <a:solidFill>
                  <a:schemeClr val="accent6"/>
                </a:solidFill>
              </a:rPr>
              <a:t>final stage: Recycled</a:t>
            </a:r>
            <a:endParaRPr lang="en-US" sz="1400" dirty="0"/>
          </a:p>
        </p:txBody>
      </p:sp>
      <p:sp>
        <p:nvSpPr>
          <p:cNvPr id="9" name="res-stat-2"/>
          <p:cNvSpPr/>
          <p:nvPr/>
        </p:nvSpPr>
        <p:spPr>
          <a:xfrm>
            <a:off x="8119872" y="1325880"/>
            <a:ext cx="3520440" cy="1280160"/>
          </a:xfrm>
          <a:prstGeom prst="roundRect">
            <a:avLst>
              <a:gd name="adj" fmla="val 5714"/>
            </a:avLst>
          </a:prstGeom>
          <a:solidFill>
            <a:schemeClr val="bg2"/>
          </a:solidFill>
          <a:ln/>
        </p:spPr>
      </p:sp>
      <p:sp>
        <p:nvSpPr>
          <p:cNvPr id="10" name="res-stat-2-num"/>
          <p:cNvSpPr txBox="1"/>
          <p:nvPr/>
        </p:nvSpPr>
        <p:spPr>
          <a:xfrm>
            <a:off x="8348472" y="1399032"/>
            <a:ext cx="3108960" cy="640080"/>
          </a:xfrm>
          <a:prstGeom prst="rect">
            <a:avLst/>
          </a:prstGeom>
          <a:noFill/>
          <a:ln/>
        </p:spPr>
        <p:txBody>
          <a:bodyPr wrap="square" lIns="0" tIns="0" rIns="0" bIns="0" rtlCol="0" anchor="ctr"/>
          <a:lstStyle/>
          <a:p>
            <a:pPr algn="l" indent="0" marL="0">
              <a:buNone/>
            </a:pPr>
            <a:r>
              <a:rPr lang="en-US" sz="3400" b="1" dirty="0">
                <a:solidFill>
                  <a:schemeClr val="accent1"/>
                </a:solidFill>
              </a:rPr>
              <a:t>Block 12</a:t>
            </a:r>
            <a:endParaRPr lang="en-US" sz="3400" dirty="0"/>
          </a:p>
        </p:txBody>
      </p:sp>
      <p:sp>
        <p:nvSpPr>
          <p:cNvPr id="11" name="res-stat-2-label"/>
          <p:cNvSpPr txBox="1"/>
          <p:nvPr/>
        </p:nvSpPr>
        <p:spPr>
          <a:xfrm>
            <a:off x="8348472" y="2011680"/>
            <a:ext cx="3154680" cy="548640"/>
          </a:xfrm>
          <a:prstGeom prst="rect">
            <a:avLst/>
          </a:prstGeom>
          <a:noFill/>
          <a:ln/>
        </p:spPr>
        <p:txBody>
          <a:bodyPr wrap="square" lIns="0" tIns="0" rIns="0" bIns="0" rtlCol="0" anchor="t"/>
          <a:lstStyle/>
          <a:p>
            <a:pPr algn="l" indent="0" marL="0">
              <a:buNone/>
            </a:pPr>
            <a:r>
              <a:rPr lang="en-US" sz="1400" b="1" dirty="0">
                <a:solidFill>
                  <a:schemeClr val="tx1"/>
                </a:solidFill>
              </a:rPr>
              <a:t>DEMO-BATCH-0002 registration confirmed</a:t>
            </a:r>
            <a:endParaRPr lang="en-US" sz="1400" dirty="0"/>
          </a:p>
          <a:p>
            <a:pPr algn="l" indent="0" marL="0">
              <a:buNone/>
            </a:pPr>
            <a:r>
              <a:rPr lang="en-US" sz="1200" dirty="0">
                <a:solidFill>
                  <a:schemeClr val="accent6"/>
                </a:solidFill>
              </a:rPr>
              <a:t>then advanced to Refined</a:t>
            </a:r>
            <a:endParaRPr lang="en-US" sz="1400" dirty="0"/>
          </a:p>
        </p:txBody>
      </p:sp>
      <p:sp>
        <p:nvSpPr>
          <p:cNvPr id="12" name="tests-title"/>
          <p:cNvSpPr txBox="1"/>
          <p:nvPr/>
        </p:nvSpPr>
        <p:spPr>
          <a:xfrm>
            <a:off x="548640" y="2834640"/>
            <a:ext cx="5486400" cy="329184"/>
          </a:xfrm>
          <a:prstGeom prst="rect">
            <a:avLst/>
          </a:prstGeom>
          <a:noFill/>
          <a:ln/>
        </p:spPr>
        <p:txBody>
          <a:bodyPr wrap="square" lIns="0" tIns="0" rIns="0" bIns="0" rtlCol="0" anchor="t"/>
          <a:lstStyle/>
          <a:p>
            <a:pPr algn="l" indent="0" marL="0">
              <a:buNone/>
            </a:pPr>
            <a:r>
              <a:rPr lang="en-US" sz="1600" b="1" dirty="0">
                <a:solidFill>
                  <a:schemeClr val="tx1"/>
                </a:solidFill>
              </a:rPr>
              <a:t>Automated contract tests (forge-std, run by Hardhat)</a:t>
            </a:r>
            <a:endParaRPr lang="en-US" sz="1600" dirty="0"/>
          </a:p>
        </p:txBody>
      </p:sp>
      <p:sp>
        <p:nvSpPr>
          <p:cNvPr id="13" name="tests-list"/>
          <p:cNvSpPr txBox="1"/>
          <p:nvPr/>
        </p:nvSpPr>
        <p:spPr>
          <a:xfrm>
            <a:off x="548640" y="3218688"/>
            <a:ext cx="5486400" cy="2743200"/>
          </a:xfrm>
          <a:prstGeom prst="rect">
            <a:avLst/>
          </a:prstGeom>
          <a:noFill/>
          <a:ln/>
        </p:spPr>
        <p:txBody>
          <a:bodyPr wrap="square" lIns="0" tIns="0" rIns="0" bIns="0" rtlCol="0" anchor="t"/>
          <a:lstStyle/>
          <a:p>
            <a:pPr algn="l" marL="342900" indent="-342900">
              <a:spcAft>
                <a:spcPts val="100"/>
              </a:spcAft>
              <a:buSzPct val="100000"/>
              <a:buFont typeface="+mj-lt"/>
              <a:buAutoNum type="arabicPeriod" startAt="1"/>
            </a:pPr>
            <a:r>
              <a:rPr lang="en-US" sz="1400" dirty="0">
                <a:solidFill>
                  <a:schemeClr val="tx1"/>
                </a:solidFill>
              </a:rPr>
              <a:t>Deployer receives the Admin role</a:t>
            </a:r>
            <a:endParaRPr lang="en-US" sz="1400" dirty="0"/>
          </a:p>
          <a:p>
            <a:pPr algn="l" marL="342900" indent="-342900">
              <a:spcAft>
                <a:spcPts val="100"/>
              </a:spcAft>
              <a:buSzPct val="100000"/>
              <a:buFont typeface="+mj-lt"/>
              <a:buAutoNum type="arabicPeriod" startAt="1"/>
            </a:pPr>
            <a:r>
              <a:rPr lang="en-US" sz="1400" dirty="0">
                <a:solidFill>
                  <a:schemeClr val="tx1"/>
                </a:solidFill>
              </a:rPr>
              <a:t>Admin can grant the Supplier role</a:t>
            </a:r>
            <a:endParaRPr lang="en-US" sz="1400" dirty="0"/>
          </a:p>
          <a:p>
            <a:pPr algn="l" marL="342900" indent="-342900">
              <a:spcAft>
                <a:spcPts val="100"/>
              </a:spcAft>
              <a:buSzPct val="100000"/>
              <a:buFont typeface="+mj-lt"/>
              <a:buAutoNum type="arabicPeriod" startAt="1"/>
            </a:pPr>
            <a:r>
              <a:rPr lang="en-US" sz="1400" dirty="0">
                <a:solidFill>
                  <a:schemeClr val="tx1"/>
                </a:solidFill>
              </a:rPr>
              <a:t>Non-admin cannot grant roles</a:t>
            </a:r>
            <a:endParaRPr lang="en-US" sz="1400" dirty="0"/>
          </a:p>
          <a:p>
            <a:pPr algn="l" marL="342900" indent="-342900">
              <a:spcAft>
                <a:spcPts val="100"/>
              </a:spcAft>
              <a:buSzPct val="100000"/>
              <a:buFont typeface="+mj-lt"/>
              <a:buAutoNum type="arabicPeriod" startAt="1"/>
            </a:pPr>
            <a:r>
              <a:rPr lang="en-US" sz="1400" dirty="0">
                <a:solidFill>
                  <a:schemeClr val="tx1"/>
                </a:solidFill>
              </a:rPr>
              <a:t>Supplier can register a battery</a:t>
            </a:r>
            <a:endParaRPr lang="en-US" sz="1400" dirty="0"/>
          </a:p>
          <a:p>
            <a:pPr algn="l" marL="342900" indent="-342900">
              <a:spcAft>
                <a:spcPts val="100"/>
              </a:spcAft>
              <a:buSzPct val="100000"/>
              <a:buFont typeface="+mj-lt"/>
              <a:buAutoNum type="arabicPeriod" startAt="1"/>
            </a:pPr>
            <a:r>
              <a:rPr lang="en-US" sz="1400" dirty="0">
                <a:solidFill>
                  <a:schemeClr val="tx1"/>
                </a:solidFill>
              </a:rPr>
              <a:t>Unauthorised account cannot register</a:t>
            </a:r>
            <a:endParaRPr lang="en-US" sz="1400" dirty="0"/>
          </a:p>
          <a:p>
            <a:pPr algn="l" marL="342900" indent="-342900">
              <a:spcAft>
                <a:spcPts val="100"/>
              </a:spcAft>
              <a:buSzPct val="100000"/>
              <a:buFont typeface="+mj-lt"/>
              <a:buAutoNum type="arabicPeriod" startAt="1"/>
            </a:pPr>
            <a:r>
              <a:rPr lang="en-US" sz="1400" dirty="0">
                <a:solidFill>
                  <a:schemeClr val="tx1"/>
                </a:solidFill>
              </a:rPr>
              <a:t>Refining before registration is rejected</a:t>
            </a:r>
            <a:endParaRPr lang="en-US" sz="1400" dirty="0"/>
          </a:p>
          <a:p>
            <a:pPr algn="l" marL="342900" indent="-342900">
              <a:spcAft>
                <a:spcPts val="100"/>
              </a:spcAft>
              <a:buSzPct val="100000"/>
              <a:buFont typeface="+mj-lt"/>
              <a:buAutoNum type="arabicPeriod" startAt="1"/>
            </a:pPr>
            <a:r>
              <a:rPr lang="en-US" sz="1400" dirty="0">
                <a:solidFill>
                  <a:schemeClr val="tx1"/>
                </a:solidFill>
              </a:rPr>
              <a:t>Manufacturing before refining is rejected</a:t>
            </a:r>
            <a:endParaRPr lang="en-US" sz="1400" dirty="0"/>
          </a:p>
          <a:p>
            <a:pPr algn="l" marL="342900" indent="-342900">
              <a:spcAft>
                <a:spcPts val="100"/>
              </a:spcAft>
              <a:buSzPct val="100000"/>
              <a:buFont typeface="+mj-lt"/>
              <a:buAutoNum type="arabicPeriod" startAt="1"/>
            </a:pPr>
            <a:r>
              <a:rPr lang="en-US" sz="1400" dirty="0">
                <a:solidFill>
                  <a:schemeClr val="tx1"/>
                </a:solidFill>
              </a:rPr>
              <a:t>Duplicate batch ID is rejected</a:t>
            </a:r>
            <a:endParaRPr lang="en-US" sz="1400" dirty="0"/>
          </a:p>
          <a:p>
            <a:pPr algn="l" marL="342900" indent="-342900">
              <a:spcAft>
                <a:spcPts val="100"/>
              </a:spcAft>
              <a:buSzPct val="100000"/>
              <a:buFont typeface="+mj-lt"/>
              <a:buAutoNum type="arabicPeriod" startAt="1"/>
            </a:pPr>
            <a:r>
              <a:rPr lang="en-US" sz="1400" dirty="0">
                <a:solidFill>
                  <a:schemeClr val="tx1"/>
                </a:solidFill>
              </a:rPr>
              <a:t>Full lifecycle returns the correct public passport</a:t>
            </a:r>
            <a:endParaRPr lang="en-US" sz="1400" dirty="0"/>
          </a:p>
          <a:p>
            <a:pPr algn="l" marL="342900" indent="-342900">
              <a:spcAft>
                <a:spcPts val="100"/>
              </a:spcAft>
              <a:buSzPct val="100000"/>
              <a:buFont typeface="+mj-lt"/>
              <a:buAutoNum type="arabicPeriod" startAt="1"/>
            </a:pPr>
            <a:r>
              <a:rPr lang="en-US" sz="1400" dirty="0">
                <a:solidFill>
                  <a:schemeClr val="tx1"/>
                </a:solidFill>
              </a:rPr>
              <a:t>Regulator reads full passport; Customer cannot</a:t>
            </a:r>
            <a:endParaRPr lang="en-US" sz="1400" dirty="0"/>
          </a:p>
        </p:txBody>
      </p:sp>
      <p:sp>
        <p:nvSpPr>
          <p:cNvPr id="14" name="demo-title"/>
          <p:cNvSpPr txBox="1"/>
          <p:nvPr/>
        </p:nvSpPr>
        <p:spPr>
          <a:xfrm>
            <a:off x="6355080" y="2834640"/>
            <a:ext cx="5285232" cy="329184"/>
          </a:xfrm>
          <a:prstGeom prst="rect">
            <a:avLst/>
          </a:prstGeom>
          <a:noFill/>
          <a:ln/>
        </p:spPr>
        <p:txBody>
          <a:bodyPr wrap="square" lIns="0" tIns="0" rIns="0" bIns="0" rtlCol="0" anchor="t"/>
          <a:lstStyle/>
          <a:p>
            <a:pPr algn="l" indent="0" marL="0">
              <a:buNone/>
            </a:pPr>
            <a:r>
              <a:rPr lang="en-US" sz="1600" b="1" dirty="0">
                <a:solidFill>
                  <a:schemeClr val="tx1"/>
                </a:solidFill>
              </a:rPr>
              <a:t>Demo batches (fictional data)</a:t>
            </a:r>
            <a:endParaRPr lang="en-US" sz="1600" dirty="0"/>
          </a:p>
        </p:txBody>
      </p:sp>
      <p:graphicFrame>
        <p:nvGraphicFramePr>
          <p:cNvPr id="13" name="demo-table"/>
          <p:cNvGraphicFramePr>
            <a:graphicFrameLocks noGrp="1"/>
          </p:cNvGraphicFramePr>
          <p:nvPr>
            <p:extLst>
              <p:ext uri="{D42A27DB-BD31-4B8C-83A1-F6EECF244321}">
                <p14:modId xmlns:p14="http://schemas.microsoft.com/office/powerpoint/2010/main" val="1579011935"/>
              </p:ext>
            </p:extLst>
          </p:nvPr>
        </p:nvGraphicFramePr>
        <p:xfrm>
          <a:off x="6355080" y="3218688"/>
          <a:ext cx="5285232" cy="914400"/>
        </p:xfrm>
        <a:graphic>
          <a:graphicData uri="http://schemas.openxmlformats.org/drawingml/2006/table">
            <a:tbl>
              <a:tblPr/>
              <a:tblGrid>
                <a:gridCol w="1783080"/>
                <a:gridCol w="1216152"/>
                <a:gridCol w="2286000"/>
              </a:tblGrid>
              <a:tr h="0">
                <a:tc>
                  <a:txBody>
                    <a:bodyPr/>
                    <a:lstStyle/>
                    <a:p>
                      <a:pPr indent="0" marL="0">
                        <a:buNone/>
                      </a:pPr>
                      <a:r>
                        <a:rPr lang="en-US" sz="1300" b="1" dirty="0">
                          <a:solidFill>
                            <a:schemeClr val="bg1"/>
                          </a:solidFill>
                        </a:rPr>
                        <a:t>Batch</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Stage reached</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Evidence</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solidFill>
                      <a:schemeClr val="accent1"/>
                    </a:solidFill>
                  </a:tcPr>
                </a:tc>
              </a:tr>
              <a:tr h="0">
                <a:tc>
                  <a:txBody>
                    <a:bodyPr/>
                    <a:lstStyle/>
                    <a:p>
                      <a:pPr indent="0" marL="0">
                        <a:buNone/>
                      </a:pPr>
                      <a:r>
                        <a:rPr lang="en-US" sz="1200" dirty="0">
                          <a:solidFill>
                            <a:srgbClr val="1F2328"/>
                          </a:solidFill>
                          <a:latin typeface="Consolas" pitchFamily="34" charset="0"/>
                          <a:ea typeface="Consolas" pitchFamily="34" charset="-122"/>
                          <a:cs typeface="Consolas" pitchFamily="34" charset="-120"/>
                        </a:rPr>
                        <a:t>DEMO-BATCH-0001</a:t>
                      </a:r>
                      <a:endParaRPr lang="en-US" sz="1200" dirty="0">
                        <a:latin typeface="Consolas" charset="0"/>
                        <a:ea typeface="Consolas" charset="0"/>
                        <a:cs typeface="Consolas" charset="0"/>
                      </a:endParaRPr>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300" dirty="0">
                          <a:solidFill>
                            <a:srgbClr val="1F2328"/>
                          </a:solidFill>
                        </a:rPr>
                        <a:t>Recycled (6)</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300" dirty="0">
                          <a:solidFill>
                            <a:srgbClr val="1F2328"/>
                          </a:solidFill>
                        </a:rPr>
                        <a:t>All six lifecycle transactions succeeded</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r h="0">
                <a:tc>
                  <a:txBody>
                    <a:bodyPr/>
                    <a:lstStyle/>
                    <a:p>
                      <a:pPr indent="0" marL="0">
                        <a:buNone/>
                      </a:pPr>
                      <a:r>
                        <a:rPr lang="en-US" sz="1200" dirty="0">
                          <a:solidFill>
                            <a:srgbClr val="1F2328"/>
                          </a:solidFill>
                          <a:latin typeface="Consolas" pitchFamily="34" charset="0"/>
                          <a:ea typeface="Consolas" pitchFamily="34" charset="-122"/>
                          <a:cs typeface="Consolas" pitchFamily="34" charset="-120"/>
                        </a:rPr>
                        <a:t>DEMO-BATCH-0002</a:t>
                      </a:r>
                      <a:endParaRPr lang="en-US" sz="1200" dirty="0">
                        <a:latin typeface="Consolas" charset="0"/>
                        <a:ea typeface="Consolas" charset="0"/>
                        <a:cs typeface="Consolas" charset="0"/>
                      </a:endParaRPr>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300" dirty="0">
                          <a:solidFill>
                            <a:srgbClr val="1F2328"/>
                          </a:solidFill>
                        </a:rPr>
                        <a:t>Refined (2)</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c>
                  <a:txBody>
                    <a:bodyPr/>
                    <a:lstStyle/>
                    <a:p>
                      <a:pPr indent="0" marL="0">
                        <a:buNone/>
                      </a:pPr>
                      <a:r>
                        <a:rPr lang="en-US" sz="1300" dirty="0">
                          <a:solidFill>
                            <a:srgbClr val="1F2328"/>
                          </a:solidFill>
                        </a:rPr>
                        <a:t>Registered on-chain (block 12), then refined</a:t>
                      </a:r>
                      <a:endParaRPr lang="en-US" sz="1300" dirty="0"/>
                    </a:p>
                  </a:txBody>
                  <a:tcPr marL="73152" marR="73152" marT="45720" marB="45720" anchor="ctr">
                    <a:lnL w="9525" cap="flat" cmpd="sng" algn="ctr">
                      <a:solidFill>
                        <a:srgbClr val="C9CFD6"/>
                      </a:solidFill>
                      <a:prstDash val="solid"/>
                      <a:round/>
                      <a:headEnd type="none" w="med" len="med"/>
                      <a:tailEnd type="none" w="med" len="med"/>
                    </a:lnL>
                    <a:lnR w="9525" cap="flat" cmpd="sng" algn="ctr">
                      <a:solidFill>
                        <a:srgbClr val="C9CFD6"/>
                      </a:solidFill>
                      <a:prstDash val="solid"/>
                      <a:round/>
                      <a:headEnd type="none" w="med" len="med"/>
                      <a:tailEnd type="none" w="med" len="med"/>
                    </a:lnR>
                    <a:lnT w="9525" cap="flat" cmpd="sng" algn="ctr">
                      <a:solidFill>
                        <a:srgbClr val="C9CFD6"/>
                      </a:solidFill>
                      <a:prstDash val="solid"/>
                      <a:round/>
                      <a:headEnd type="none" w="med" len="med"/>
                      <a:tailEnd type="none" w="med" len="med"/>
                    </a:lnT>
                    <a:lnB w="9525" cap="flat" cmpd="sng" algn="ctr">
                      <a:solidFill>
                        <a:srgbClr val="C9CFD6"/>
                      </a:solidFill>
                      <a:prstDash val="solid"/>
                      <a:round/>
                      <a:headEnd type="none" w="med" len="med"/>
                      <a:tailEnd type="none" w="med" len="med"/>
                    </a:lnB>
                  </a:tcPr>
                </a:tc>
              </a:tr>
            </a:tbl>
          </a:graphicData>
        </a:graphic>
      </p:graphicFrame>
      <p:sp>
        <p:nvSpPr>
          <p:cNvPr id="16" name="ui-verified-bg"/>
          <p:cNvSpPr/>
          <p:nvPr/>
        </p:nvSpPr>
        <p:spPr>
          <a:xfrm>
            <a:off x="6355080" y="4709160"/>
            <a:ext cx="5285232" cy="1188720"/>
          </a:xfrm>
          <a:prstGeom prst="roundRect">
            <a:avLst>
              <a:gd name="adj" fmla="val 6154"/>
            </a:avLst>
          </a:prstGeom>
          <a:solidFill>
            <a:schemeClr val="accent3">
              <a:alpha val="10000"/>
            </a:schemeClr>
          </a:solidFill>
          <a:ln/>
        </p:spPr>
      </p:sp>
      <p:sp>
        <p:nvSpPr>
          <p:cNvPr id="17" name="ui-verified"/>
          <p:cNvSpPr txBox="1"/>
          <p:nvPr/>
        </p:nvSpPr>
        <p:spPr>
          <a:xfrm>
            <a:off x="6537960" y="4773168"/>
            <a:ext cx="4937760" cy="1051560"/>
          </a:xfrm>
          <a:prstGeom prst="rect">
            <a:avLst/>
          </a:prstGeom>
          <a:noFill/>
          <a:ln/>
        </p:spPr>
        <p:txBody>
          <a:bodyPr wrap="square" lIns="0" tIns="0" rIns="0" bIns="0" rtlCol="0" anchor="ctr"/>
          <a:lstStyle/>
          <a:p>
            <a:pPr algn="l" indent="0" marL="0">
              <a:buNone/>
            </a:pPr>
            <a:r>
              <a:rPr lang="en-US" sz="1400" b="1" dirty="0">
                <a:solidFill>
                  <a:schemeClr val="accent3"/>
                </a:solidFill>
              </a:rPr>
              <a:t>Dashboard displayed correctly</a:t>
            </a:r>
            <a:endParaRPr lang="en-US" sz="1400" dirty="0"/>
          </a:p>
          <a:p>
            <a:pPr algn="l" indent="0" marL="0">
              <a:buNone/>
            </a:pPr>
            <a:r>
              <a:rPr lang="en-US" sz="1400" dirty="0">
                <a:solidFill>
                  <a:schemeClr val="tx2"/>
                </a:solidFill>
              </a:rPr>
              <a:t>batch information, lifecycle state, material origin, recycled content and QR code</a:t>
            </a:r>
            <a:endParaRPr lang="en-US" sz="1400" dirty="0"/>
          </a:p>
        </p:txBody>
      </p:sp>
      <p:sp>
        <p:nvSpPr>
          <p:cNvPr id="18" name="res-note"/>
          <p:cNvSpPr txBox="1"/>
          <p:nvPr/>
        </p:nvSpPr>
        <p:spPr>
          <a:xfrm>
            <a:off x="548640" y="5989320"/>
            <a:ext cx="11091672" cy="274320"/>
          </a:xfrm>
          <a:prstGeom prst="rect">
            <a:avLst/>
          </a:prstGeom>
          <a:noFill/>
          <a:ln/>
        </p:spPr>
        <p:txBody>
          <a:bodyPr wrap="square" lIns="0" tIns="0" rIns="0" bIns="0" rtlCol="0" anchor="t"/>
          <a:lstStyle/>
          <a:p>
            <a:pPr algn="l" indent="0" marL="0">
              <a:buNone/>
            </a:pPr>
            <a:r>
              <a:rPr lang="en-US" sz="1200" i="1" dirty="0">
                <a:solidFill>
                  <a:schemeClr val="accent6"/>
                </a:solidFill>
              </a:rPr>
              <a:t>Local demonstration results on a Hardhat network (chain ID 31337). Not a production deployment, and not performance benchmarks.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Limitations, security and future work</a:t>
            </a:r>
            <a:endParaRPr lang="en-US" sz="3400" dirty="0"/>
          </a:p>
        </p:txBody>
      </p:sp>
      <p:sp>
        <p:nvSpPr>
          <p:cNvPr id="3" name="lim-0-bg"/>
          <p:cNvSpPr/>
          <p:nvPr/>
        </p:nvSpPr>
        <p:spPr>
          <a:xfrm>
            <a:off x="548640" y="1325880"/>
            <a:ext cx="3520440" cy="4069080"/>
          </a:xfrm>
          <a:prstGeom prst="roundRect">
            <a:avLst>
              <a:gd name="adj" fmla="val 2078"/>
            </a:avLst>
          </a:prstGeom>
          <a:solidFill>
            <a:schemeClr val="accent5">
              <a:alpha val="8000"/>
            </a:schemeClr>
          </a:solidFill>
          <a:ln/>
        </p:spPr>
      </p:sp>
      <p:sp>
        <p:nvSpPr>
          <p:cNvPr id="4" name="lim-0-badge"/>
          <p:cNvSpPr/>
          <p:nvPr/>
        </p:nvSpPr>
        <p:spPr>
          <a:xfrm>
            <a:off x="731520" y="1481328"/>
            <a:ext cx="420624" cy="420624"/>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 name="lim-0-title"/>
          <p:cNvSpPr txBox="1"/>
          <p:nvPr/>
        </p:nvSpPr>
        <p:spPr>
          <a:xfrm>
            <a:off x="1261872" y="1463040"/>
            <a:ext cx="2697480" cy="502920"/>
          </a:xfrm>
          <a:prstGeom prst="rect">
            <a:avLst/>
          </a:prstGeom>
          <a:noFill/>
          <a:ln/>
        </p:spPr>
        <p:txBody>
          <a:bodyPr wrap="square" lIns="0" tIns="0" rIns="0" bIns="0" rtlCol="0" anchor="ctr"/>
          <a:lstStyle/>
          <a:p>
            <a:pPr algn="l" indent="0" marL="0">
              <a:buNone/>
            </a:pPr>
            <a:r>
              <a:rPr lang="en-US" sz="1600" b="1" dirty="0">
                <a:solidFill>
                  <a:schemeClr val="accent5"/>
                </a:solidFill>
              </a:rPr>
              <a:t>Limitations</a:t>
            </a:r>
            <a:endParaRPr lang="en-US" sz="1600" dirty="0"/>
          </a:p>
        </p:txBody>
      </p:sp>
      <p:sp>
        <p:nvSpPr>
          <p:cNvPr id="6" name="lim-0-list"/>
          <p:cNvSpPr txBox="1"/>
          <p:nvPr/>
        </p:nvSpPr>
        <p:spPr>
          <a:xfrm>
            <a:off x="731520" y="2148840"/>
            <a:ext cx="3200400" cy="315468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Runs only on a local Hardhat network; state resets when the node restarts</a:t>
            </a:r>
            <a:endParaRPr lang="en-US" sz="1400" dirty="0"/>
          </a:p>
          <a:p>
            <a:pPr algn="l" marL="342900" indent="-342900">
              <a:spcAft>
                <a:spcPts val="800"/>
              </a:spcAft>
              <a:buSzPct val="100000"/>
              <a:buChar char="•"/>
            </a:pPr>
            <a:r>
              <a:rPr lang="en-US" sz="1400" dirty="0">
                <a:solidFill>
                  <a:schemeClr val="tx1"/>
                </a:solidFill>
              </a:rPr>
              <a:t>Blockchain does not prove submitted data is true; demo data is fictional</a:t>
            </a:r>
            <a:endParaRPr lang="en-US" sz="1400" dirty="0"/>
          </a:p>
          <a:p>
            <a:pPr algn="l" marL="342900" indent="-342900">
              <a:spcAft>
                <a:spcPts val="800"/>
              </a:spcAft>
              <a:buSzPct val="100000"/>
              <a:buChar char="•"/>
            </a:pPr>
            <a:r>
              <a:rPr lang="en-US" sz="1400" dirty="0">
                <a:solidFill>
                  <a:schemeClr val="tx1"/>
                </a:solidFill>
              </a:rPr>
              <a:t>No confidentiality: on-chain data is readable at node level</a:t>
            </a:r>
            <a:endParaRPr lang="en-US" sz="1400" dirty="0"/>
          </a:p>
          <a:p>
            <a:pPr algn="l" marL="342900" indent="-342900">
              <a:spcAft>
                <a:spcPts val="800"/>
              </a:spcAft>
              <a:buSzPct val="100000"/>
              <a:buChar char="•"/>
            </a:pPr>
            <a:r>
              <a:rPr lang="en-US" sz="1400" dirty="0">
                <a:solidFill>
                  <a:schemeClr val="tx1"/>
                </a:solidFill>
              </a:rPr>
              <a:t>QR link works only on the same computer</a:t>
            </a:r>
            <a:endParaRPr lang="en-US" sz="1400" dirty="0"/>
          </a:p>
          <a:p>
            <a:pPr algn="l" marL="342900" indent="-342900">
              <a:spcAft>
                <a:spcPts val="800"/>
              </a:spcAft>
              <a:buSzPct val="100000"/>
              <a:buChar char="•"/>
            </a:pPr>
            <a:r>
              <a:rPr lang="en-US" sz="1400" dirty="0">
                <a:solidFill>
                  <a:schemeClr val="tx1"/>
                </a:solidFill>
              </a:rPr>
              <a:t>Recorded data cannot be corrected later</a:t>
            </a:r>
            <a:endParaRPr lang="en-US" sz="1400" dirty="0"/>
          </a:p>
        </p:txBody>
      </p:sp>
      <p:sp>
        <p:nvSpPr>
          <p:cNvPr id="7" name="lim-1-bg"/>
          <p:cNvSpPr/>
          <p:nvPr/>
        </p:nvSpPr>
        <p:spPr>
          <a:xfrm>
            <a:off x="4334256" y="1325880"/>
            <a:ext cx="3520440" cy="4069080"/>
          </a:xfrm>
          <a:prstGeom prst="roundRect">
            <a:avLst>
              <a:gd name="adj" fmla="val 2078"/>
            </a:avLst>
          </a:prstGeom>
          <a:solidFill>
            <a:schemeClr val="accent1">
              <a:alpha val="8000"/>
            </a:schemeClr>
          </a:solidFill>
          <a:ln/>
        </p:spPr>
      </p:sp>
      <p:sp>
        <p:nvSpPr>
          <p:cNvPr id="8" name="lim-1-badge"/>
          <p:cNvSpPr/>
          <p:nvPr/>
        </p:nvSpPr>
        <p:spPr>
          <a:xfrm>
            <a:off x="4517136" y="1481328"/>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S</a:t>
            </a:r>
            <a:endParaRPr lang="en-US" sz="1600" dirty="0"/>
          </a:p>
        </p:txBody>
      </p:sp>
      <p:sp>
        <p:nvSpPr>
          <p:cNvPr id="9" name="lim-1-title"/>
          <p:cNvSpPr txBox="1"/>
          <p:nvPr/>
        </p:nvSpPr>
        <p:spPr>
          <a:xfrm>
            <a:off x="5047488" y="1463040"/>
            <a:ext cx="2697480" cy="502920"/>
          </a:xfrm>
          <a:prstGeom prst="rect">
            <a:avLst/>
          </a:prstGeom>
          <a:noFill/>
          <a:ln/>
        </p:spPr>
        <p:txBody>
          <a:bodyPr wrap="square" lIns="0" tIns="0" rIns="0" bIns="0" rtlCol="0" anchor="ctr"/>
          <a:lstStyle/>
          <a:p>
            <a:pPr algn="l" indent="0" marL="0">
              <a:buNone/>
            </a:pPr>
            <a:r>
              <a:rPr lang="en-US" sz="1600" b="1" dirty="0">
                <a:solidFill>
                  <a:schemeClr val="accent1"/>
                </a:solidFill>
              </a:rPr>
              <a:t>Security considerations</a:t>
            </a:r>
            <a:endParaRPr lang="en-US" sz="1600" dirty="0"/>
          </a:p>
        </p:txBody>
      </p:sp>
      <p:sp>
        <p:nvSpPr>
          <p:cNvPr id="10" name="lim-1-list"/>
          <p:cNvSpPr txBox="1"/>
          <p:nvPr/>
        </p:nvSpPr>
        <p:spPr>
          <a:xfrm>
            <a:off x="4517136" y="2148840"/>
            <a:ext cx="3200400" cy="315468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Writes are checked against msg.sender, which the signature proves</a:t>
            </a:r>
            <a:endParaRPr lang="en-US" sz="1400" dirty="0"/>
          </a:p>
          <a:p>
            <a:pPr algn="l" marL="342900" indent="-342900">
              <a:spcAft>
                <a:spcPts val="800"/>
              </a:spcAft>
              <a:buSzPct val="100000"/>
              <a:buChar char="•"/>
            </a:pPr>
            <a:r>
              <a:rPr lang="en-US" sz="1400" dirty="0">
                <a:solidFill>
                  <a:schemeClr val="tx1"/>
                </a:solidFill>
              </a:rPr>
              <a:t>Full-passport check uses the call’s “from” address, which anyone can set: not a privacy control</a:t>
            </a:r>
            <a:endParaRPr lang="en-US" sz="1400" dirty="0"/>
          </a:p>
          <a:p>
            <a:pPr algn="l" marL="342900" indent="-342900">
              <a:spcAft>
                <a:spcPts val="800"/>
              </a:spcAft>
              <a:buSzPct val="100000"/>
              <a:buChar char="•"/>
            </a:pPr>
            <a:r>
              <a:rPr lang="en-US" sz="1400" dirty="0">
                <a:solidFill>
                  <a:schemeClr val="tx1"/>
                </a:solidFill>
              </a:rPr>
              <a:t>Single Admin key: loss or self-revocation breaks role management</a:t>
            </a:r>
            <a:endParaRPr lang="en-US" sz="1400" dirty="0"/>
          </a:p>
          <a:p>
            <a:pPr algn="l" marL="342900" indent="-342900">
              <a:spcAft>
                <a:spcPts val="800"/>
              </a:spcAft>
              <a:buSzPct val="100000"/>
              <a:buChar char="•"/>
            </a:pPr>
            <a:r>
              <a:rPr lang="en-US" sz="1400" dirty="0">
                <a:solidFill>
                  <a:schemeClr val="tx1"/>
                </a:solidFill>
              </a:rPr>
              <a:t>Hardhat test keys are public; never use them with real funds</a:t>
            </a:r>
            <a:endParaRPr lang="en-US" sz="1400" dirty="0"/>
          </a:p>
        </p:txBody>
      </p:sp>
      <p:sp>
        <p:nvSpPr>
          <p:cNvPr id="11" name="lim-2-bg"/>
          <p:cNvSpPr/>
          <p:nvPr/>
        </p:nvSpPr>
        <p:spPr>
          <a:xfrm>
            <a:off x="8119872" y="1325880"/>
            <a:ext cx="3520440" cy="4069080"/>
          </a:xfrm>
          <a:prstGeom prst="roundRect">
            <a:avLst>
              <a:gd name="adj" fmla="val 2078"/>
            </a:avLst>
          </a:prstGeom>
          <a:solidFill>
            <a:schemeClr val="accent3">
              <a:alpha val="8000"/>
            </a:schemeClr>
          </a:solidFill>
          <a:ln/>
        </p:spPr>
      </p:sp>
      <p:sp>
        <p:nvSpPr>
          <p:cNvPr id="12" name="lim-2-badge"/>
          <p:cNvSpPr/>
          <p:nvPr/>
        </p:nvSpPr>
        <p:spPr>
          <a:xfrm>
            <a:off x="8302752" y="1481328"/>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lim-2-title"/>
          <p:cNvSpPr txBox="1"/>
          <p:nvPr/>
        </p:nvSpPr>
        <p:spPr>
          <a:xfrm>
            <a:off x="8833104" y="1463040"/>
            <a:ext cx="2697480" cy="502920"/>
          </a:xfrm>
          <a:prstGeom prst="rect">
            <a:avLst/>
          </a:prstGeom>
          <a:noFill/>
          <a:ln/>
        </p:spPr>
        <p:txBody>
          <a:bodyPr wrap="square" lIns="0" tIns="0" rIns="0" bIns="0" rtlCol="0" anchor="ctr"/>
          <a:lstStyle/>
          <a:p>
            <a:pPr algn="l" indent="0" marL="0">
              <a:buNone/>
            </a:pPr>
            <a:r>
              <a:rPr lang="en-US" sz="1600" b="1" dirty="0">
                <a:solidFill>
                  <a:schemeClr val="accent3"/>
                </a:solidFill>
              </a:rPr>
              <a:t>Future enhancements (not implemented)</a:t>
            </a:r>
            <a:endParaRPr lang="en-US" sz="1600" dirty="0"/>
          </a:p>
        </p:txBody>
      </p:sp>
      <p:sp>
        <p:nvSpPr>
          <p:cNvPr id="14" name="lim-2-list"/>
          <p:cNvSpPr txBox="1"/>
          <p:nvPr/>
        </p:nvSpPr>
        <p:spPr>
          <a:xfrm>
            <a:off x="8302752" y="2148840"/>
            <a:ext cx="3200400" cy="315468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Permissioned network (e.g. Hyperledger Fabric or a private EVM chain)</a:t>
            </a:r>
            <a:endParaRPr lang="en-US" sz="1400" dirty="0"/>
          </a:p>
          <a:p>
            <a:pPr algn="l" marL="342900" indent="-342900">
              <a:spcAft>
                <a:spcPts val="800"/>
              </a:spcAft>
              <a:buSzPct val="100000"/>
              <a:buChar char="•"/>
            </a:pPr>
            <a:r>
              <a:rPr lang="en-US" sz="1400" dirty="0">
                <a:solidFill>
                  <a:schemeClr val="tx1"/>
                </a:solidFill>
              </a:rPr>
              <a:t>Confidential data off-chain, hashes on-chain</a:t>
            </a:r>
            <a:endParaRPr lang="en-US" sz="1400" dirty="0"/>
          </a:p>
          <a:p>
            <a:pPr algn="l" marL="342900" indent="-342900">
              <a:spcAft>
                <a:spcPts val="800"/>
              </a:spcAft>
              <a:buSzPct val="100000"/>
              <a:buChar char="•"/>
            </a:pPr>
            <a:r>
              <a:rPr lang="en-US" sz="1400" dirty="0">
                <a:solidFill>
                  <a:schemeClr val="tx1"/>
                </a:solidFill>
              </a:rPr>
              <a:t>Supplier audits, certificates, IoT data</a:t>
            </a:r>
            <a:endParaRPr lang="en-US" sz="1400" dirty="0"/>
          </a:p>
          <a:p>
            <a:pPr algn="l" marL="342900" indent="-342900">
              <a:spcAft>
                <a:spcPts val="800"/>
              </a:spcAft>
              <a:buSzPct val="100000"/>
              <a:buChar char="•"/>
            </a:pPr>
            <a:r>
              <a:rPr lang="en-US" sz="1400" dirty="0">
                <a:solidFill>
                  <a:schemeClr val="tx1"/>
                </a:solidFill>
              </a:rPr>
              <a:t>Multi-signature Admin and role expiry</a:t>
            </a:r>
            <a:endParaRPr lang="en-US" sz="1400" dirty="0"/>
          </a:p>
          <a:p>
            <a:pPr algn="l" marL="342900" indent="-342900">
              <a:spcAft>
                <a:spcPts val="800"/>
              </a:spcAft>
              <a:buSzPct val="100000"/>
              <a:buChar char="•"/>
            </a:pPr>
            <a:r>
              <a:rPr lang="en-US" sz="1400" dirty="0">
                <a:solidFill>
                  <a:schemeClr val="tx1"/>
                </a:solidFill>
              </a:rPr>
              <a:t>Battery health, repair history and event-history view</a:t>
            </a:r>
            <a:endParaRPr lang="en-US" sz="1400" dirty="0"/>
          </a:p>
        </p:txBody>
      </p:sp>
      <p:sp>
        <p:nvSpPr>
          <p:cNvPr id="15" name="lim-callout-bg"/>
          <p:cNvSpPr/>
          <p:nvPr/>
        </p:nvSpPr>
        <p:spPr>
          <a:xfrm>
            <a:off x="548640" y="5577840"/>
            <a:ext cx="11091672" cy="548640"/>
          </a:xfrm>
          <a:prstGeom prst="roundRect">
            <a:avLst>
              <a:gd name="adj" fmla="val 13333"/>
            </a:avLst>
          </a:prstGeom>
          <a:solidFill>
            <a:schemeClr val="accent1">
              <a:alpha val="13000"/>
            </a:schemeClr>
          </a:solidFill>
          <a:ln/>
        </p:spPr>
      </p:sp>
      <p:sp>
        <p:nvSpPr>
          <p:cNvPr id="16" name="lim-callout"/>
          <p:cNvSpPr txBox="1"/>
          <p:nvPr/>
        </p:nvSpPr>
        <p:spPr>
          <a:xfrm>
            <a:off x="777240" y="5577840"/>
            <a:ext cx="10698480" cy="548640"/>
          </a:xfrm>
          <a:prstGeom prst="rect">
            <a:avLst/>
          </a:prstGeom>
          <a:noFill/>
          <a:ln/>
        </p:spPr>
        <p:txBody>
          <a:bodyPr wrap="square" lIns="0" tIns="0" rIns="0" bIns="0" rtlCol="0" anchor="ctr"/>
          <a:lstStyle/>
          <a:p>
            <a:pPr indent="0" marL="0">
              <a:buNone/>
            </a:pPr>
            <a:r>
              <a:rPr lang="en-US" sz="1500" b="1" dirty="0">
                <a:solidFill>
                  <a:schemeClr val="accent1"/>
                </a:solidFill>
              </a:rPr>
              <a:t>Implemented vs proposed: </a:t>
            </a:r>
            <a:pPr indent="0" marL="0">
              <a:buNone/>
            </a:pPr>
            <a:r>
              <a:rPr lang="en-US" sz="1500" dirty="0">
                <a:solidFill>
                  <a:schemeClr val="tx1"/>
                </a:solidFill>
              </a:rPr>
              <a:t>everything in the green column is future work and is not part of the current prototype.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Conclusion and references</a:t>
            </a:r>
            <a:endParaRPr lang="en-US" sz="3400" dirty="0"/>
          </a:p>
        </p:txBody>
      </p:sp>
      <p:sp>
        <p:nvSpPr>
          <p:cNvPr id="3" name="conclusion-list"/>
          <p:cNvSpPr txBox="1"/>
          <p:nvPr/>
        </p:nvSpPr>
        <p:spPr>
          <a:xfrm>
            <a:off x="548640" y="1371600"/>
            <a:ext cx="6126480" cy="402336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chemeClr val="bg2"/>
                </a:solidFill>
              </a:rPr>
              <a:t>Built a working end-to-end prototype: Solidity contract, local Hardhat chain, React dashboard, MetaMask signing and a QR-linked public passport.</a:t>
            </a:r>
            <a:endParaRPr lang="en-US" sz="1700" dirty="0"/>
          </a:p>
          <a:p>
            <a:pPr algn="l" marL="342900" indent="-342900">
              <a:spcAft>
                <a:spcPts val="1200"/>
              </a:spcAft>
              <a:buSzPct val="100000"/>
              <a:buChar char="•"/>
            </a:pPr>
            <a:r>
              <a:rPr lang="en-US" sz="1700" dirty="0">
                <a:solidFill>
                  <a:schemeClr val="bg2"/>
                </a:solidFill>
              </a:rPr>
              <a:t>The contract enforces who may record each stage and in which order. All 10 tests pass.</a:t>
            </a:r>
            <a:endParaRPr lang="en-US" sz="1700" dirty="0"/>
          </a:p>
          <a:p>
            <a:pPr algn="l" marL="342900" indent="-342900">
              <a:spcAft>
                <a:spcPts val="1200"/>
              </a:spcAft>
              <a:buSzPct val="100000"/>
              <a:buChar char="•"/>
            </a:pPr>
            <a:r>
              <a:rPr lang="en-US" sz="1700" dirty="0">
                <a:solidFill>
                  <a:schemeClr val="bg2"/>
                </a:solidFill>
              </a:rPr>
              <a:t>DEMO-BATCH-0001 was traced from registration to recycling; DEMO-BATCH-0002 shows a batch part-way through.</a:t>
            </a:r>
            <a:endParaRPr lang="en-US" sz="1700" dirty="0"/>
          </a:p>
          <a:p>
            <a:pPr algn="l" marL="342900" indent="-342900">
              <a:spcAft>
                <a:spcPts val="1200"/>
              </a:spcAft>
              <a:buSzPct val="100000"/>
              <a:buChar char="•"/>
            </a:pPr>
            <a:r>
              <a:rPr lang="en-US" sz="1700" dirty="0">
                <a:solidFill>
                  <a:schemeClr val="bg2"/>
                </a:solidFill>
              </a:rPr>
              <a:t>Key lesson: blockchain makes records shared and tamper-evident, but data accuracy and confidentiality need additional controls.</a:t>
            </a:r>
            <a:endParaRPr lang="en-US" sz="1700" dirty="0"/>
          </a:p>
        </p:txBody>
      </p:sp>
      <p:sp>
        <p:nvSpPr>
          <p:cNvPr id="4" name="refs-bg"/>
          <p:cNvSpPr/>
          <p:nvPr/>
        </p:nvSpPr>
        <p:spPr>
          <a:xfrm>
            <a:off x="7086600" y="1325880"/>
            <a:ext cx="4553712" cy="3657600"/>
          </a:xfrm>
          <a:prstGeom prst="roundRect">
            <a:avLst>
              <a:gd name="adj" fmla="val 2000"/>
            </a:avLst>
          </a:prstGeom>
          <a:solidFill>
            <a:schemeClr val="tx2"/>
          </a:solidFill>
          <a:ln/>
        </p:spPr>
      </p:sp>
      <p:sp>
        <p:nvSpPr>
          <p:cNvPr id="5" name="refs-title"/>
          <p:cNvSpPr txBox="1"/>
          <p:nvPr/>
        </p:nvSpPr>
        <p:spPr>
          <a:xfrm>
            <a:off x="7287768" y="1463040"/>
            <a:ext cx="4114800" cy="329184"/>
          </a:xfrm>
          <a:prstGeom prst="rect">
            <a:avLst/>
          </a:prstGeom>
          <a:noFill/>
          <a:ln/>
        </p:spPr>
        <p:txBody>
          <a:bodyPr wrap="square" lIns="0" tIns="0" rIns="0" bIns="0" rtlCol="0" anchor="t"/>
          <a:lstStyle/>
          <a:p>
            <a:pPr algn="l" indent="0" marL="0">
              <a:buNone/>
            </a:pPr>
            <a:r>
              <a:rPr lang="en-US" sz="1600" b="1" dirty="0">
                <a:solidFill>
                  <a:schemeClr val="bg1"/>
                </a:solidFill>
              </a:rPr>
              <a:t>References</a:t>
            </a:r>
            <a:endParaRPr lang="en-US" sz="1600" dirty="0"/>
          </a:p>
        </p:txBody>
      </p:sp>
      <p:sp>
        <p:nvSpPr>
          <p:cNvPr id="6" name="refs-list"/>
          <p:cNvSpPr txBox="1"/>
          <p:nvPr/>
        </p:nvSpPr>
        <p:spPr>
          <a:xfrm>
            <a:off x="7287768" y="1874520"/>
            <a:ext cx="4160520" cy="3017520"/>
          </a:xfrm>
          <a:prstGeom prst="rect">
            <a:avLst/>
          </a:prstGeom>
          <a:noFill/>
          <a:ln/>
        </p:spPr>
        <p:txBody>
          <a:bodyPr wrap="square" lIns="0" tIns="0" rIns="0" bIns="0" rtlCol="0" anchor="t"/>
          <a:lstStyle/>
          <a:p>
            <a:pPr algn="l" indent="0" marL="0">
              <a:spcAft>
                <a:spcPts val="600"/>
              </a:spcAft>
              <a:buNone/>
            </a:pPr>
            <a:r>
              <a:rPr lang="en-US" sz="1200" dirty="0">
                <a:solidFill>
                  <a:schemeClr val="bg2"/>
                </a:solidFill>
              </a:rPr>
              <a:t>[1] Regulation (EU) 2023/1542 of the European Parliament and of the Council of 12 July 2023 concerning batteries and waste batteries. Official Journal of the EU.</a:t>
            </a:r>
            <a:endParaRPr lang="en-US" sz="1200" dirty="0"/>
          </a:p>
          <a:p>
            <a:pPr algn="l" indent="0" marL="0">
              <a:spcAft>
                <a:spcPts val="600"/>
              </a:spcAft>
              <a:buNone/>
            </a:pPr>
            <a:r>
              <a:rPr lang="en-US" sz="1200" dirty="0">
                <a:solidFill>
                  <a:schemeClr val="bg2"/>
                </a:solidFill>
              </a:rPr>
              <a:t>[2] Solidity documentation, v0.8.34. docs.soliditylang.org</a:t>
            </a:r>
            <a:endParaRPr lang="en-US" sz="1200" dirty="0"/>
          </a:p>
          <a:p>
            <a:pPr algn="l" indent="0" marL="0">
              <a:spcAft>
                <a:spcPts val="600"/>
              </a:spcAft>
              <a:buNone/>
            </a:pPr>
            <a:r>
              <a:rPr lang="en-US" sz="1200" dirty="0">
                <a:solidFill>
                  <a:schemeClr val="bg2"/>
                </a:solidFill>
              </a:rPr>
              <a:t>[3] Hardhat 3 documentation. hardhat.org</a:t>
            </a:r>
            <a:endParaRPr lang="en-US" sz="1200" dirty="0"/>
          </a:p>
          <a:p>
            <a:pPr algn="l" indent="0" marL="0">
              <a:spcAft>
                <a:spcPts val="600"/>
              </a:spcAft>
              <a:buNone/>
            </a:pPr>
            <a:r>
              <a:rPr lang="en-US" sz="1200" dirty="0">
                <a:solidFill>
                  <a:schemeClr val="bg2"/>
                </a:solidFill>
              </a:rPr>
              <a:t>[4] viem documentation. viem.sh</a:t>
            </a:r>
            <a:endParaRPr lang="en-US" sz="1200" dirty="0"/>
          </a:p>
          <a:p>
            <a:pPr algn="l" indent="0" marL="0">
              <a:spcAft>
                <a:spcPts val="600"/>
              </a:spcAft>
              <a:buNone/>
            </a:pPr>
            <a:r>
              <a:rPr lang="en-US" sz="1200" dirty="0">
                <a:solidFill>
                  <a:schemeClr val="bg2"/>
                </a:solidFill>
              </a:rPr>
              <a:t>[5] MetaMask developer documentation. docs.metamask.io</a:t>
            </a:r>
            <a:endParaRPr lang="en-US" sz="1200" dirty="0"/>
          </a:p>
          <a:p>
            <a:pPr algn="l" indent="0" marL="0">
              <a:spcAft>
                <a:spcPts val="600"/>
              </a:spcAft>
              <a:buNone/>
            </a:pPr>
            <a:r>
              <a:rPr lang="en-US" sz="1200" dirty="0">
                <a:solidFill>
                  <a:schemeClr val="bg2"/>
                </a:solidFill>
              </a:rPr>
              <a:t>[6] forge-std. github.com/foundry-rs/forge-std</a:t>
            </a:r>
            <a:endParaRPr lang="en-US" sz="1200" dirty="0"/>
          </a:p>
          <a:p>
            <a:pPr algn="l" indent="0" marL="0">
              <a:spcAft>
                <a:spcPts val="600"/>
              </a:spcAft>
              <a:buNone/>
            </a:pPr>
            <a:r>
              <a:rPr lang="en-US" sz="1200" dirty="0">
                <a:solidFill>
                  <a:schemeClr val="bg2"/>
                </a:solidFill>
              </a:rPr>
              <a:t>[7] React (react.dev) and Vite (vite.dev) documentation</a:t>
            </a:r>
            <a:endParaRPr lang="en-US" sz="1200" dirty="0"/>
          </a:p>
          <a:p>
            <a:pPr algn="l" indent="0" marL="0">
              <a:spcAft>
                <a:spcPts val="600"/>
              </a:spcAft>
              <a:buNone/>
            </a:pPr>
            <a:r>
              <a:rPr lang="en-US" sz="1200" dirty="0">
                <a:solidFill>
                  <a:schemeClr val="bg2"/>
                </a:solidFill>
              </a:rPr>
              <a:t>[8] qrcode.react. github.com/zpao/qrcode.react</a:t>
            </a:r>
            <a:endParaRPr lang="en-US" sz="1200" dirty="0"/>
          </a:p>
        </p:txBody>
      </p:sp>
      <p:sp>
        <p:nvSpPr>
          <p:cNvPr id="7" name="thanks"/>
          <p:cNvSpPr txBox="1"/>
          <p:nvPr/>
        </p:nvSpPr>
        <p:spPr>
          <a:xfrm>
            <a:off x="548640" y="5623560"/>
            <a:ext cx="6126480" cy="457200"/>
          </a:xfrm>
          <a:prstGeom prst="rect">
            <a:avLst/>
          </a:prstGeom>
          <a:noFill/>
          <a:ln/>
        </p:spPr>
        <p:txBody>
          <a:bodyPr wrap="square" lIns="0" tIns="0" rIns="0" bIns="0" rtlCol="0" anchor="t"/>
          <a:lstStyle/>
          <a:p>
            <a:pPr algn="l" indent="0" marL="0">
              <a:buNone/>
            </a:pPr>
            <a:r>
              <a:rPr lang="en-US" sz="2200" b="1" dirty="0">
                <a:solidFill>
                  <a:schemeClr val="bg1"/>
                </a:solidFill>
              </a:rPr>
              <a:t>Thank you. Questions are welcome.</a:t>
            </a:r>
            <a:endParaRPr lang="en-US" sz="2200" dirty="0"/>
          </a:p>
        </p:txBody>
      </p:sp>
      <p:sp>
        <p:nvSpPr>
          <p:cNvPr id="8" name="closing-disclaimer"/>
          <p:cNvSpPr txBox="1"/>
          <p:nvPr/>
        </p:nvSpPr>
        <p:spPr>
          <a:xfrm>
            <a:off x="7086600" y="5623560"/>
            <a:ext cx="4553712" cy="548640"/>
          </a:xfrm>
          <a:prstGeom prst="rect">
            <a:avLst/>
          </a:prstGeom>
          <a:noFill/>
          <a:ln/>
        </p:spPr>
        <p:txBody>
          <a:bodyPr wrap="square" lIns="0" tIns="0" rIns="0" bIns="0" rtlCol="0" anchor="t"/>
          <a:lstStyle/>
          <a:p>
            <a:pPr algn="l" indent="0" marL="0">
              <a:buNone/>
            </a:pPr>
            <a:r>
              <a:rPr lang="en-US" sz="1100" i="1" dirty="0">
                <a:solidFill>
                  <a:schemeClr val="accent2"/>
                </a:solidFill>
              </a:rPr>
              <a:t>Educational prototype inspired by automotive battery traceability. Not affiliated with Volvo Cars or Circulor.</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0D3"/>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attery Passport">
  <a:themeElements>
    <a:clrScheme name="Battery Passport">
      <a:dk1>
        <a:srgbClr val="1F2328"/>
      </a:dk1>
      <a:lt1>
        <a:srgbClr val="FFFFFF"/>
      </a:lt1>
      <a:dk2>
        <a:srgbClr val="2B3440"/>
      </a:dk2>
      <a:lt2>
        <a:srgbClr val="F2F4F7"/>
      </a:lt2>
      <a:accent1>
        <a:srgbClr val="2F5D8A"/>
      </a:accent1>
      <a:accent2>
        <a:srgbClr val="8FB0D3"/>
      </a:accent2>
      <a:accent3>
        <a:srgbClr val="2E6B48"/>
      </a:accent3>
      <a:accent4>
        <a:srgbClr val="8A5A12"/>
      </a:accent4>
      <a:accent5>
        <a:srgbClr val="A33A3A"/>
      </a:accent5>
      <a:accent6>
        <a:srgbClr val="5B6470"/>
      </a:accent6>
      <a:hlink>
        <a:srgbClr val="2F5D8A"/>
      </a:hlink>
      <a:folHlink>
        <a:srgbClr val="5B6470"/>
      </a:folHlink>
    </a:clrScheme>
    <a:fontScheme name="Battery Pass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Volvo Battery Passport: Blockchain-Based Supply Chain Transparency</dc:title>
  <dc:subject>Educational blockchain prototype: EV battery passport on a local Hardhat network</dc:subject>
  <dc:creator>Volvo Battery Passport project</dc:creator>
  <cp:lastModifiedBy>Volvo Battery Passport project</cp:lastModifiedBy>
  <cp:revision>1</cp:revision>
  <dcterms:created xsi:type="dcterms:W3CDTF">2026-10-22T04:55:30Z</dcterms:created>
  <dcterms:modified xsi:type="dcterms:W3CDTF">2026-10-22T04:55:30Z</dcterms:modified>
</cp:coreProperties>
</file>